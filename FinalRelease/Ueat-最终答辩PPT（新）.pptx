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1" r:id="rId23"/>
    <p:sldId id="276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大家好，我们是17组。今天我们将向大家展示我们的项目——Ueat，一个专为高校学生设计的约饭搭子匹配系统。我们希望通过这个平台，帮助同学们打破社交壁垒，轻松找到饭搭子，享受更丰富的校园生活。接下来，我将从六个方面进行详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次汇报将分为六个部分。首先，我们会进行系统演示，让大家直观感受产品。接着，我们将深入分析项目特色与用户反馈。然后，会介绍项目的关键技术和创新点。之后是关于测试与质量保证的说明。最后，进行项目总结并开放问答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现在，我们进入第一部分：系统演示。在这一部分，我们将向大家展示Ueat系统的核心用户流程和关键界面设计，让大家对我们的产品有一个直观的认识。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Ueat的核心用户流程非常清晰。首先，用户可以轻松发布约饭卡片，设置自己的偏好。然后，我们的智能匹配系统会推荐合适的饭搭子。双方可以通过站内聊天确认细节，系统还会提供破冰话题。线下赴约后，用户还可以在社区分享体验，形成一个完整的社交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是我们设计的核心界面原型。大家可以看到，约饭匹配页采用了直观的卡片式设计；聊天页内置了破冰提示；饭后社区页鼓励用户分享；个人中心则方便用户管理自己的信息和记录。整个界面设计简洁明了，注重用户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接下来进入第二部分，我们将深入剖析Ueat的项目特色，并分享我们从市场调研和用户测试中获得的反馈报告。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接下来，我们将介绍项目的第三部分：关键技术与项目创新点。这部分将揭示Ueat背后的技术支撑和我们独特的创新之处。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这一页强调真实系统的三层架构：前端与多端展示、后端业务接口、数据与实时同步。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讲述时可以顺着用户请求路径说明：React 页面调用 services，Express Router 接收请求，postgresStore 写入 PostgreSQL，必要时通过 WebSocket 推送变化。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Local repo: D:/U eat/README.md; D:/U eat/web/docs/06-code-file-guide.md; D:/U eat/server/src/app.ts; D:/U eat/server/src/realtime.ts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这一页回答老师要求的“基于接口的设计”。重点不是接口数量，而是展示层、状态层、服务层、后端模块和数据层之间都有清晰边界。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可以用约饭卡为例：Home 页面调用 useMealCards，hook 调用 mealCardsApi，mealCardsApi 走 apiClient，后端 mealCardsRouter 再调用 postgresStore。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Local repo: D:/U eat/web/src/services/apiClient.ts; D:/U eat/web/src/services/mealCardsApi.ts; D:/U eat/web/docs/06-code-file-guide.md; D:/U eat/server/src/app.ts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这一页把代码里的设计模式讲成人话：Facade/Adapter 解决调用复杂度，Observer/Pub-Sub 解决实时同步，Strategy/Scoring 解决算法可替换，Async Job/Cache 解决性能。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答辩时不用背模式名定义，要说明每种模式在 U eat 中解决的具体问题。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Local repo: D:/U eat/web/src/services/apiClient.ts; D:/U eat/web/src/hooks/useRealtimeEvents.ts; D:/U eat/server/src/realtime.ts; D:/U eat/server/src/modules/recommendation.ts; D:/U eat/server/src/modules/mealCardRecommendationFeatures.ts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这一页讲算法主线：先过滤，再提取特征，再加权排序，最后用用户行为反馈形成闭环。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可以强调当前算法不是黑盒大模型，而是可解释的业务评分管线，适合课程验收展示；后续可叠加 embedding 和 pgvector 做语义升级。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Local repo: D:/U eat/web/docs/14-home-meal-card-matching-algorithm.md; D:/U eat/web/docs/15-semantic-embedding-upgrade-plan.md; D:/U eat/server/src/modules/mealCards.ts; D:/U eat/server/src/modules/recommendation.ts; D:/U eat/server/src/modules/recommendationFeedback.ts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一个优秀的产品离不开严格的测试和质量保证。在第四部分，我们将介绍我们的测试体系和质量管控措施。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我们建立了覆盖功能、体验、兼容和安全的全维度测试体系。在核心测试项中，我们的功能测试通过率达到100%，可用性测试结果显示产品非常易用，兼容性良好，并且安全隐私机制也得到了有效验证。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为了确保产品质量，我们实施了三级评审机制，从源头把控质量。同时，我们对所有缺陷进行闭环管理，确保问题得到彻底解决。此外，我们还建立了用户反馈通道，让用户成为我们产品优化的伙伴。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CF3A-F529-0AF2-0AF6-7EC194F27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3F434-5618-C638-6E91-308664B6D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ABC54-643A-A8AB-56D8-8204547C5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为了确保产品质量，我们实施了三级评审机制，从源头把控质量。同时，我们对所有缺陷进行闭环管理，确保问题得到彻底解决。此外，我们还建立了用户反馈通道，让用户成为我们产品优化的伙伴。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C709B-957B-960B-6594-F239DCA9592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918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现在，我们进入最后一个部分：项目总结。我们将回顾本次项目的成果，分享经验教训，并展望未来的规划。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我的汇报到此结束。感谢各位老师的聆听。现在是问答环节，欢迎大家提问与指导。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再次感谢各位老师的点评和指正。我们相信，科技能够为校园社交带来更多可能。我们期待与大家一起，共赴这场美好的校园社交之约。谢谢！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>
            <a:extLst>
              <a:ext uri="{FF2B5EF4-FFF2-40B4-BE49-F238E27FC236}">
                <a16:creationId xmlns:a16="http://schemas.microsoft.com/office/drawing/2014/main" id="{C52D184A-4BBD-4A61-B12F-3496CC645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>
            <a:extLst>
              <a:ext uri="{FF2B5EF4-FFF2-40B4-BE49-F238E27FC236}">
                <a16:creationId xmlns:a16="http://schemas.microsoft.com/office/drawing/2014/main" id="{6A2D6866-437A-4A6A-B189-5781B5A8C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>
            <a:extLst>
              <a:ext uri="{FF2B5EF4-FFF2-40B4-BE49-F238E27FC236}">
                <a16:creationId xmlns:a16="http://schemas.microsoft.com/office/drawing/2014/main" id="{DEE9F5F8-BF88-426D-B32C-FA426FBF22B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>
            <a:extLst>
              <a:ext uri="{FF2B5EF4-FFF2-40B4-BE49-F238E27FC236}">
                <a16:creationId xmlns:a16="http://schemas.microsoft.com/office/drawing/2014/main" id="{7EBF4F6F-8D25-4333-AA5E-05F84DA1E39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>
            <a:extLst>
              <a:ext uri="{FF2B5EF4-FFF2-40B4-BE49-F238E27FC236}">
                <a16:creationId xmlns:a16="http://schemas.microsoft.com/office/drawing/2014/main" id="{D87E7623-8698-4582-BE03-457AA9A0C8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>
            <a:extLst>
              <a:ext uri="{FF2B5EF4-FFF2-40B4-BE49-F238E27FC236}">
                <a16:creationId xmlns:a16="http://schemas.microsoft.com/office/drawing/2014/main" id="{45318FED-5818-4572-8201-3533DC764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>
            <a:extLst>
              <a:ext uri="{FF2B5EF4-FFF2-40B4-BE49-F238E27FC236}">
                <a16:creationId xmlns:a16="http://schemas.microsoft.com/office/drawing/2014/main" id="{D21D1A08-3454-4A25-BF96-C6FFA315E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>
            <a:extLst>
              <a:ext uri="{FF2B5EF4-FFF2-40B4-BE49-F238E27FC236}">
                <a16:creationId xmlns:a16="http://schemas.microsoft.com/office/drawing/2014/main" id="{87DBFF4A-6024-43A1-B772-9FDE9C91583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>
            <a:extLst>
              <a:ext uri="{FF2B5EF4-FFF2-40B4-BE49-F238E27FC236}">
                <a16:creationId xmlns:a16="http://schemas.microsoft.com/office/drawing/2014/main" id="{E312A678-2276-4A1C-AA6E-47879280397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>
            <a:extLst>
              <a:ext uri="{FF2B5EF4-FFF2-40B4-BE49-F238E27FC236}">
                <a16:creationId xmlns:a16="http://schemas.microsoft.com/office/drawing/2014/main" id="{CB7DDAE5-3BBA-4E9C-8CCB-3C793E8743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>
            <a:extLst>
              <a:ext uri="{FF2B5EF4-FFF2-40B4-BE49-F238E27FC236}">
                <a16:creationId xmlns:a16="http://schemas.microsoft.com/office/drawing/2014/main" id="{06F6A5F5-CF2F-467E-85FF-4EED6D03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>
            <a:extLst>
              <a:ext uri="{FF2B5EF4-FFF2-40B4-BE49-F238E27FC236}">
                <a16:creationId xmlns:a16="http://schemas.microsoft.com/office/drawing/2014/main" id="{BAF423D5-4C15-4801-815F-0BCCA1982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>
            <a:extLst>
              <a:ext uri="{FF2B5EF4-FFF2-40B4-BE49-F238E27FC236}">
                <a16:creationId xmlns:a16="http://schemas.microsoft.com/office/drawing/2014/main" id="{4DADB02B-4254-4D3C-B67A-78C47115DA2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>
            <a:extLst>
              <a:ext uri="{FF2B5EF4-FFF2-40B4-BE49-F238E27FC236}">
                <a16:creationId xmlns:a16="http://schemas.microsoft.com/office/drawing/2014/main" id="{BB4B3132-4A24-48DB-9E5F-C7583A2E8E2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>
            <a:extLst>
              <a:ext uri="{FF2B5EF4-FFF2-40B4-BE49-F238E27FC236}">
                <a16:creationId xmlns:a16="http://schemas.microsoft.com/office/drawing/2014/main" id="{F8943001-A133-4C30-BF8B-D70A8E55FF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>
            <a:extLst>
              <a:ext uri="{FF2B5EF4-FFF2-40B4-BE49-F238E27FC236}">
                <a16:creationId xmlns:a16="http://schemas.microsoft.com/office/drawing/2014/main" id="{62421AD7-F475-46B1-B01C-C4323E8F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F13754FE-92C1-4258-A5BC-05802841C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F144CFEB-7E77-4E2E-B562-61E9D325FFD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780834B8-B35F-4EFD-8DBC-AAC17245BA3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64E80BAB-ACDA-400F-889D-C1E63431EC1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668A4E8E-2F37-497A-AC52-C5D9E94866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>
            <a:extLst>
              <a:ext uri="{FF2B5EF4-FFF2-40B4-BE49-F238E27FC236}">
                <a16:creationId xmlns:a16="http://schemas.microsoft.com/office/drawing/2014/main" id="{E856EDDE-FC4B-4CB4-BED3-50F32BB70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BB214C2-C035-47EA-B001-7D0F48566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318E458-1983-440B-9623-1C0D086411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2392A8A-CBF1-4433-8E7C-3A5B0C6B0A5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691DDD4-A180-4993-A8EA-E45EB68A3F7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34D6051-28E2-48D5-AB7B-6F539AEF292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6861ECB-92BF-49AF-B757-7B3C7F4461C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C7815E5-D972-4E7B-8881-B0A2C715ED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>
            <a:extLst>
              <a:ext uri="{FF2B5EF4-FFF2-40B4-BE49-F238E27FC236}">
                <a16:creationId xmlns:a16="http://schemas.microsoft.com/office/drawing/2014/main" id="{C03DE078-1DD4-4BBA-9256-57D00EF81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3F19E73-3D33-47A7-9932-C2B971AF9EC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EA26427D-8015-4671-A520-787503A17BB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2A465E23-DFF2-4EBD-B6E1-803B654D53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>
            <a:extLst>
              <a:ext uri="{FF2B5EF4-FFF2-40B4-BE49-F238E27FC236}">
                <a16:creationId xmlns:a16="http://schemas.microsoft.com/office/drawing/2014/main" id="{56D70C73-B815-4BDF-8193-FE01EEBA8F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B83106E3-202F-4FC1-9697-F4AD5C2993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6B78DB0F-5FAC-4F5B-A093-AC46D3FDF7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>
            <a:extLst>
              <a:ext uri="{FF2B5EF4-FFF2-40B4-BE49-F238E27FC236}">
                <a16:creationId xmlns:a16="http://schemas.microsoft.com/office/drawing/2014/main" id="{05CFAD21-C5D7-4B6E-9CBE-58A340C3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>
            <a:extLst>
              <a:ext uri="{FF2B5EF4-FFF2-40B4-BE49-F238E27FC236}">
                <a16:creationId xmlns:a16="http://schemas.microsoft.com/office/drawing/2014/main" id="{0179A020-8470-45F5-8F67-CC038B8B1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>
            <a:extLst>
              <a:ext uri="{FF2B5EF4-FFF2-40B4-BE49-F238E27FC236}">
                <a16:creationId xmlns:a16="http://schemas.microsoft.com/office/drawing/2014/main" id="{1984F6D7-F02B-494B-9CF7-7A6B3E6BEF9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>
            <a:extLst>
              <a:ext uri="{FF2B5EF4-FFF2-40B4-BE49-F238E27FC236}">
                <a16:creationId xmlns:a16="http://schemas.microsoft.com/office/drawing/2014/main" id="{595ECF28-0193-4DD8-9AC8-11F8C12B6E9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>
            <a:extLst>
              <a:ext uri="{FF2B5EF4-FFF2-40B4-BE49-F238E27FC236}">
                <a16:creationId xmlns:a16="http://schemas.microsoft.com/office/drawing/2014/main" id="{145E6E4E-BF1C-4990-9EB2-D3A99142B94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>
            <a:extLst>
              <a:ext uri="{FF2B5EF4-FFF2-40B4-BE49-F238E27FC236}">
                <a16:creationId xmlns:a16="http://schemas.microsoft.com/office/drawing/2014/main" id="{E8A6B504-489F-45D1-BD65-CEA0173132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>
            <a:extLst>
              <a:ext uri="{FF2B5EF4-FFF2-40B4-BE49-F238E27FC236}">
                <a16:creationId xmlns:a16="http://schemas.microsoft.com/office/drawing/2014/main" id="{98DBC620-CBDD-44C5-A803-45D95AB1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7EF24A8B-2F87-4A3F-A0D6-C9D8F066043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E9AEF788-68B9-433F-A705-8C63E46CB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EDCBBA55-B471-4403-83DB-CDA896EEDC8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FA84575A-03AB-4748-9F60-467068AA860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A9E40222-0457-417D-8218-035CD955C94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>
            <a:extLst>
              <a:ext uri="{FF2B5EF4-FFF2-40B4-BE49-F238E27FC236}">
                <a16:creationId xmlns:a16="http://schemas.microsoft.com/office/drawing/2014/main" id="{8B531524-9DEA-4DA3-9CDE-67D842D9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>
            <a:extLst>
              <a:ext uri="{FF2B5EF4-FFF2-40B4-BE49-F238E27FC236}">
                <a16:creationId xmlns:a16="http://schemas.microsoft.com/office/drawing/2014/main" id="{231E6128-19CF-44C3-BE7F-E0B01A446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>
            <a:extLst>
              <a:ext uri="{FF2B5EF4-FFF2-40B4-BE49-F238E27FC236}">
                <a16:creationId xmlns:a16="http://schemas.microsoft.com/office/drawing/2014/main" id="{9A016009-9E07-4F36-A44D-CB0630A9AD2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>
            <a:extLst>
              <a:ext uri="{FF2B5EF4-FFF2-40B4-BE49-F238E27FC236}">
                <a16:creationId xmlns:a16="http://schemas.microsoft.com/office/drawing/2014/main" id="{8171B0EF-8801-4AD1-84B2-2373D21D9BF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>
            <a:extLst>
              <a:ext uri="{FF2B5EF4-FFF2-40B4-BE49-F238E27FC236}">
                <a16:creationId xmlns:a16="http://schemas.microsoft.com/office/drawing/2014/main" id="{96BB5B66-2288-4687-AD55-3A95CFD18C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>
            <a:extLst>
              <a:ext uri="{FF2B5EF4-FFF2-40B4-BE49-F238E27FC236}">
                <a16:creationId xmlns:a16="http://schemas.microsoft.com/office/drawing/2014/main" id="{4EAD53DD-2718-4746-8E4B-D1913717E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>
            <a:extLst>
              <a:ext uri="{FF2B5EF4-FFF2-40B4-BE49-F238E27FC236}">
                <a16:creationId xmlns:a16="http://schemas.microsoft.com/office/drawing/2014/main" id="{DD430D7F-9A37-485B-A942-9D53155CC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>
            <a:extLst>
              <a:ext uri="{FF2B5EF4-FFF2-40B4-BE49-F238E27FC236}">
                <a16:creationId xmlns:a16="http://schemas.microsoft.com/office/drawing/2014/main" id="{C144173F-36CC-447C-A6FF-B85EBDA8520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>
            <a:extLst>
              <a:ext uri="{FF2B5EF4-FFF2-40B4-BE49-F238E27FC236}">
                <a16:creationId xmlns:a16="http://schemas.microsoft.com/office/drawing/2014/main" id="{AC424D84-D776-4625-889E-0D624E240AC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>
            <a:extLst>
              <a:ext uri="{FF2B5EF4-FFF2-40B4-BE49-F238E27FC236}">
                <a16:creationId xmlns:a16="http://schemas.microsoft.com/office/drawing/2014/main" id="{B7EA28F5-6566-4D5D-8EA3-98A865977A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55071860-A1AA-4695-A925-715808A9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A5FD892-70CB-43C2-9D44-285DDEA44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E07C89D-0A78-4579-B13D-81344EDA5C3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3CEE318-3B43-4863-BA60-7304CB47509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AA662F7-FA05-4AFC-8588-9AF6109ADD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1.sv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9.svg"/><Relationship Id="rId4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4DE9BF8-18B4-48A7-A66E-FCD9FF9533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>
            <a:solidFill>
              <a:srgbClr val="000000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F581440-FC00-4531-8181-A3CC48EAD9D5}"/>
              </a:ext>
            </a:extLst>
          </p:cNvPr>
          <p:cNvSpPr>
            <a:spLocks noGrp="1"/>
          </p:cNvSpPr>
          <p:nvPr/>
        </p:nvSpPr>
        <p:spPr>
          <a:xfrm>
            <a:off x="8128000" y="2286000"/>
            <a:ext cx="3683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Ueat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CF815B6-E1D6-43D8-99A1-5100BC003397}"/>
              </a:ext>
            </a:extLst>
          </p:cNvPr>
          <p:cNvSpPr>
            <a:spLocks noGrp="1"/>
          </p:cNvSpPr>
          <p:nvPr/>
        </p:nvSpPr>
        <p:spPr>
          <a:xfrm>
            <a:off x="8128000" y="3556000"/>
            <a:ext cx="3683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0" i="0" u="non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</a:rPr>
              <a:t>高校约饭搭子匹配系统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1008427-C99A-4494-89D5-32AD59A80FF3}"/>
              </a:ext>
            </a:extLst>
          </p:cNvPr>
          <p:cNvSpPr>
            <a:spLocks noGrp="1"/>
          </p:cNvSpPr>
          <p:nvPr/>
        </p:nvSpPr>
        <p:spPr>
          <a:xfrm>
            <a:off x="8128000" y="4445000"/>
            <a:ext cx="3683000" cy="444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📢 课程设计答辩演示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8D4B5E3-15BE-4F5B-B9CD-9B6E2687B7FE}"/>
              </a:ext>
            </a:extLst>
          </p:cNvPr>
          <p:cNvSpPr>
            <a:spLocks noGrp="1"/>
          </p:cNvSpPr>
          <p:nvPr/>
        </p:nvSpPr>
        <p:spPr>
          <a:xfrm>
            <a:off x="8128000" y="5270500"/>
            <a:ext cx="3683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cmpd="sng">
            <a:solidFill>
              <a:srgbClr val="E6CFCF">
                <a:alpha val="12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4322C82-F9F7-4BD6-9FF7-3F92ED3334E5}"/>
              </a:ext>
            </a:extLst>
          </p:cNvPr>
          <p:cNvSpPr>
            <a:spLocks noGrp="1"/>
          </p:cNvSpPr>
          <p:nvPr/>
        </p:nvSpPr>
        <p:spPr>
          <a:xfrm>
            <a:off x="8255000" y="5397500"/>
            <a:ext cx="3429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汇报团队：17组 | 日期：2026.07.31</a:t>
            </a:r>
          </a:p>
        </p:txBody>
      </p:sp>
    </p:spTree>
    <p:extLst>
      <p:ext uri="{BB962C8B-B14F-4D97-AF65-F5344CB8AC3E}">
        <p14:creationId xmlns:p14="http://schemas.microsoft.com/office/powerpoint/2010/main" val="161810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E7B6806-5D7D-4BAE-9408-B60A4A536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6D8E1E0-4738-4636-8A55-7857A0FDF5DD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目录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DD6ECCF-ACAB-4414-81C2-17F690BC4665}"/>
              </a:ext>
            </a:extLst>
          </p:cNvPr>
          <p:cNvSpPr>
            <a:spLocks noGrp="1"/>
          </p:cNvSpPr>
          <p:nvPr/>
        </p:nvSpPr>
        <p:spPr>
          <a:xfrm>
            <a:off x="762000" y="1778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>
            <a:solidFill>
              <a:srgbClr val="22C55E">
                <a:alpha val="1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94DA2B2-C2CD-40E8-9DBA-836040813AD5}"/>
              </a:ext>
            </a:extLst>
          </p:cNvPr>
          <p:cNvSpPr>
            <a:spLocks noGrp="1"/>
          </p:cNvSpPr>
          <p:nvPr/>
        </p:nvSpPr>
        <p:spPr>
          <a:xfrm>
            <a:off x="952500" y="1968500"/>
            <a:ext cx="635000" cy="444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36A7325-E7F2-442C-BC32-6213F78277F4}"/>
              </a:ext>
            </a:extLst>
          </p:cNvPr>
          <p:cNvSpPr>
            <a:spLocks noGrp="1"/>
          </p:cNvSpPr>
          <p:nvPr/>
        </p:nvSpPr>
        <p:spPr>
          <a:xfrm>
            <a:off x="1714500" y="1968500"/>
            <a:ext cx="4127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系统演示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4E01BA1-5EB7-47C1-925D-B8D8D566942B}"/>
              </a:ext>
            </a:extLst>
          </p:cNvPr>
          <p:cNvSpPr>
            <a:spLocks noGrp="1"/>
          </p:cNvSpPr>
          <p:nvPr/>
        </p:nvSpPr>
        <p:spPr>
          <a:xfrm>
            <a:off x="1714500" y="2413000"/>
            <a:ext cx="4127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直观展示产品核心交互流程与界面原型，呈现完整的用户操作路径与功能布局细节，还原真实场景下的使用体验。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D3AA79C-C1DC-4458-917E-461178AE5090}"/>
              </a:ext>
            </a:extLst>
          </p:cNvPr>
          <p:cNvSpPr>
            <a:spLocks noGrp="1"/>
          </p:cNvSpPr>
          <p:nvPr/>
        </p:nvSpPr>
        <p:spPr>
          <a:xfrm>
            <a:off x="762000" y="3365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>
            <a:solidFill>
              <a:srgbClr val="22C55E">
                <a:alpha val="1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D8B2301-5965-411C-814F-F013B3AFC535}"/>
              </a:ext>
            </a:extLst>
          </p:cNvPr>
          <p:cNvSpPr>
            <a:spLocks noGrp="1"/>
          </p:cNvSpPr>
          <p:nvPr/>
        </p:nvSpPr>
        <p:spPr>
          <a:xfrm>
            <a:off x="952500" y="3556000"/>
            <a:ext cx="635000" cy="444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094B80E-E6B6-4862-82D7-D530AAA97A2B}"/>
              </a:ext>
            </a:extLst>
          </p:cNvPr>
          <p:cNvSpPr>
            <a:spLocks noGrp="1"/>
          </p:cNvSpPr>
          <p:nvPr/>
        </p:nvSpPr>
        <p:spPr>
          <a:xfrm>
            <a:off x="1714500" y="3556000"/>
            <a:ext cx="4127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产品特色与市场调研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DE3A5F8B-668D-47F4-8B32-B25A1C32EE10}"/>
              </a:ext>
            </a:extLst>
          </p:cNvPr>
          <p:cNvSpPr>
            <a:spLocks noGrp="1"/>
          </p:cNvSpPr>
          <p:nvPr/>
        </p:nvSpPr>
        <p:spPr>
          <a:xfrm>
            <a:off x="1714500" y="4000500"/>
            <a:ext cx="4127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深度解析产品定位与核心差异化特性，结合市场调研数据与真实用户反馈，多维度验证产品的市场价值与潜力。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259BEF8-7032-4430-8756-FD055CB10F78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>
            <a:solidFill>
              <a:srgbClr val="22C55E">
                <a:alpha val="1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AA32CDE4-428D-490C-8350-C3839F51E7F0}"/>
              </a:ext>
            </a:extLst>
          </p:cNvPr>
          <p:cNvSpPr>
            <a:spLocks noGrp="1"/>
          </p:cNvSpPr>
          <p:nvPr/>
        </p:nvSpPr>
        <p:spPr>
          <a:xfrm>
            <a:off x="952500" y="5143500"/>
            <a:ext cx="635000" cy="444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C1E2B2E-5585-44CB-9AF3-32FB2B562DE8}"/>
              </a:ext>
            </a:extLst>
          </p:cNvPr>
          <p:cNvSpPr>
            <a:spLocks noGrp="1"/>
          </p:cNvSpPr>
          <p:nvPr/>
        </p:nvSpPr>
        <p:spPr>
          <a:xfrm>
            <a:off x="1714500" y="5143500"/>
            <a:ext cx="4127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核心架构与关键技术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057BEFED-2462-4A2C-BB92-E206F8FC30E2}"/>
              </a:ext>
            </a:extLst>
          </p:cNvPr>
          <p:cNvSpPr>
            <a:spLocks noGrp="1"/>
          </p:cNvSpPr>
          <p:nvPr/>
        </p:nvSpPr>
        <p:spPr>
          <a:xfrm>
            <a:off x="1714500" y="5588000"/>
            <a:ext cx="4127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拆解核心技术实现方案与架构设计，阐述产品在应用场景、底层机制与用户体验层面的突破性创新与独特优势。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3009A05-71B7-48D2-B9C7-5F9CD2C75F51}"/>
              </a:ext>
            </a:extLst>
          </p:cNvPr>
          <p:cNvSpPr>
            <a:spLocks noGrp="1"/>
          </p:cNvSpPr>
          <p:nvPr/>
        </p:nvSpPr>
        <p:spPr>
          <a:xfrm>
            <a:off x="6223000" y="1778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>
            <a:solidFill>
              <a:srgbClr val="22C55E">
                <a:alpha val="1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89FBD96C-FBF9-4FC1-B5CC-9E7141BF69CE}"/>
              </a:ext>
            </a:extLst>
          </p:cNvPr>
          <p:cNvSpPr>
            <a:spLocks noGrp="1"/>
          </p:cNvSpPr>
          <p:nvPr/>
        </p:nvSpPr>
        <p:spPr>
          <a:xfrm>
            <a:off x="6413500" y="1968500"/>
            <a:ext cx="635000" cy="444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5A8C39C-3370-42CB-8DF6-2BAE4971ADCF}"/>
              </a:ext>
            </a:extLst>
          </p:cNvPr>
          <p:cNvSpPr>
            <a:spLocks noGrp="1"/>
          </p:cNvSpPr>
          <p:nvPr/>
        </p:nvSpPr>
        <p:spPr>
          <a:xfrm>
            <a:off x="7175500" y="1968500"/>
            <a:ext cx="4127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测试与质量保证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367076A0-4B84-4473-9534-A28B05027A7E}"/>
              </a:ext>
            </a:extLst>
          </p:cNvPr>
          <p:cNvSpPr>
            <a:spLocks noGrp="1"/>
          </p:cNvSpPr>
          <p:nvPr/>
        </p:nvSpPr>
        <p:spPr>
          <a:xfrm>
            <a:off x="7175500" y="2413000"/>
            <a:ext cx="4127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详解全流程测试方案与严格的质量管控机制，通过多轮功能、性能与兼容性测试，呈现产品的高可用性与稳定性。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75870415-54A6-469C-AA03-7E05F3824FED}"/>
              </a:ext>
            </a:extLst>
          </p:cNvPr>
          <p:cNvSpPr>
            <a:spLocks noGrp="1"/>
          </p:cNvSpPr>
          <p:nvPr/>
        </p:nvSpPr>
        <p:spPr>
          <a:xfrm>
            <a:off x="6223000" y="3365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>
            <a:solidFill>
              <a:srgbClr val="22C55E">
                <a:alpha val="1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39B1EC84-F2D3-4452-9E38-39977E79B7F9}"/>
              </a:ext>
            </a:extLst>
          </p:cNvPr>
          <p:cNvSpPr>
            <a:spLocks noGrp="1"/>
          </p:cNvSpPr>
          <p:nvPr/>
        </p:nvSpPr>
        <p:spPr>
          <a:xfrm>
            <a:off x="6413500" y="3556000"/>
            <a:ext cx="635000" cy="444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160C5B9-91ED-420D-98AD-381034D19827}"/>
              </a:ext>
            </a:extLst>
          </p:cNvPr>
          <p:cNvSpPr>
            <a:spLocks noGrp="1"/>
          </p:cNvSpPr>
          <p:nvPr/>
        </p:nvSpPr>
        <p:spPr>
          <a:xfrm>
            <a:off x="7175500" y="3556000"/>
            <a:ext cx="4127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项目总结与未来规划</a:t>
            </a: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86029641-842A-4730-AB06-5DCCE26DFA85}"/>
              </a:ext>
            </a:extLst>
          </p:cNvPr>
          <p:cNvSpPr>
            <a:spLocks noGrp="1"/>
          </p:cNvSpPr>
          <p:nvPr/>
        </p:nvSpPr>
        <p:spPr>
          <a:xfrm>
            <a:off x="7175500" y="4000500"/>
            <a:ext cx="4127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全面复盘项目整体成果与研发过程中的经验沉淀，总结阶段性收获与不足，明确下一阶段的迭代优化与发展规划。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0288238D-5498-4345-8FAE-4A5FABFB3C47}"/>
              </a:ext>
            </a:extLst>
          </p:cNvPr>
          <p:cNvSpPr>
            <a:spLocks noGrp="1"/>
          </p:cNvSpPr>
          <p:nvPr/>
        </p:nvSpPr>
        <p:spPr>
          <a:xfrm>
            <a:off x="6223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>
            <a:solidFill>
              <a:srgbClr val="22C55E">
                <a:alpha val="1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0322E6B4-613F-4368-8792-E61231AA1B22}"/>
              </a:ext>
            </a:extLst>
          </p:cNvPr>
          <p:cNvSpPr>
            <a:spLocks noGrp="1"/>
          </p:cNvSpPr>
          <p:nvPr/>
        </p:nvSpPr>
        <p:spPr>
          <a:xfrm>
            <a:off x="6413500" y="5143500"/>
            <a:ext cx="635000" cy="444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8675CEA8-15D6-400B-8B32-D56F223162E5}"/>
              </a:ext>
            </a:extLst>
          </p:cNvPr>
          <p:cNvSpPr>
            <a:spLocks noGrp="1"/>
          </p:cNvSpPr>
          <p:nvPr/>
        </p:nvSpPr>
        <p:spPr>
          <a:xfrm>
            <a:off x="7175500" y="5143500"/>
            <a:ext cx="4127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互动问答与交流</a:t>
            </a: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E0B438DD-A102-4136-97E6-244ABE2F3FA8}"/>
              </a:ext>
            </a:extLst>
          </p:cNvPr>
          <p:cNvSpPr>
            <a:spLocks noGrp="1"/>
          </p:cNvSpPr>
          <p:nvPr/>
        </p:nvSpPr>
        <p:spPr>
          <a:xfrm>
            <a:off x="7175500" y="5588000"/>
            <a:ext cx="4127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聆听各位专家与伙伴的专业指导建议，深入探讨产品优化方向、技术升级路径与未来发展的更多可能性。</a:t>
            </a:r>
          </a:p>
        </p:txBody>
      </p:sp>
    </p:spTree>
    <p:extLst>
      <p:ext uri="{BB962C8B-B14F-4D97-AF65-F5344CB8AC3E}">
        <p14:creationId xmlns:p14="http://schemas.microsoft.com/office/powerpoint/2010/main" val="163755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373FBBB-0FD6-448E-8186-85B279D94D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7785181-80AF-42D5-BFFF-0F2A557D3198}"/>
              </a:ext>
            </a:extLst>
          </p:cNvPr>
          <p:cNvSpPr>
            <a:spLocks noGrp="1"/>
          </p:cNvSpPr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28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PART 01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A8F6D9C-22DB-47F0-91A1-E58BE724E30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40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系统演示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B28A3E-697A-4EFF-B73E-02C4729B2B24}"/>
              </a:ext>
            </a:extLst>
          </p:cNvPr>
          <p:cNvSpPr>
            <a:spLocks noGrp="1"/>
          </p:cNvSpPr>
          <p:nvPr/>
        </p:nvSpPr>
        <p:spPr>
          <a:xfrm>
            <a:off x="5334000" y="4699000"/>
            <a:ext cx="152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2D94822-416E-44BA-90BA-3855225D7374}"/>
              </a:ext>
            </a:extLst>
          </p:cNvPr>
          <p:cNvSpPr>
            <a:spLocks noGrp="1"/>
          </p:cNvSpPr>
          <p:nvPr/>
        </p:nvSpPr>
        <p:spPr>
          <a:xfrm>
            <a:off x="1016000" y="5207000"/>
            <a:ext cx="10160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6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深度解析核心架构 · 沉浸式体验产品交互 · 全景展示功能流程</a:t>
            </a:r>
          </a:p>
        </p:txBody>
      </p:sp>
    </p:spTree>
    <p:extLst>
      <p:ext uri="{BB962C8B-B14F-4D97-AF65-F5344CB8AC3E}">
        <p14:creationId xmlns:p14="http://schemas.microsoft.com/office/powerpoint/2010/main" val="100437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10A530-67BF-4AD5-970A-8F298062F1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CB714D6-BDEF-418E-8B5F-BADF51362826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核心用户全流程演示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E1AB1CA-7A40-4041-B8B0-5DCA476D1B33}"/>
              </a:ext>
            </a:extLst>
          </p:cNvPr>
          <p:cNvSpPr>
            <a:spLocks noGrp="1"/>
          </p:cNvSpPr>
          <p:nvPr/>
        </p:nvSpPr>
        <p:spPr>
          <a:xfrm>
            <a:off x="7620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4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476500"/>
            <a:ext cx="406400" cy="4064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3504C2DB-5E6D-40EE-9C0C-79F671359920}"/>
              </a:ext>
            </a:extLst>
          </p:cNvPr>
          <p:cNvSpPr>
            <a:spLocks noGrp="1"/>
          </p:cNvSpPr>
          <p:nvPr/>
        </p:nvSpPr>
        <p:spPr>
          <a:xfrm>
            <a:off x="965200" y="3048000"/>
            <a:ext cx="1676400" cy="57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01 发布约饭卡片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DBCF862-938C-430A-86A4-F2AAE0F34C18}"/>
              </a:ext>
            </a:extLst>
          </p:cNvPr>
          <p:cNvSpPr>
            <a:spLocks noGrp="1"/>
          </p:cNvSpPr>
          <p:nvPr/>
        </p:nvSpPr>
        <p:spPr>
          <a:xfrm>
            <a:off x="965200" y="3683000"/>
            <a:ext cx="1676400" cy="1333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自主填写时间、地点与口味偏好，清晰表达交流诉求，一键发起精准的美食邀约。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8809281-9132-4EC1-8ADD-3C1E6D76C6B6}"/>
              </a:ext>
            </a:extLst>
          </p:cNvPr>
          <p:cNvSpPr>
            <a:spLocks noGrp="1"/>
          </p:cNvSpPr>
          <p:nvPr/>
        </p:nvSpPr>
        <p:spPr>
          <a:xfrm>
            <a:off x="29464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8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600" y="2476500"/>
            <a:ext cx="406400" cy="4064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0D7316AF-225A-42F5-A616-425E38C57A19}"/>
              </a:ext>
            </a:extLst>
          </p:cNvPr>
          <p:cNvSpPr>
            <a:spLocks noGrp="1"/>
          </p:cNvSpPr>
          <p:nvPr/>
        </p:nvSpPr>
        <p:spPr>
          <a:xfrm>
            <a:off x="3149600" y="3048000"/>
            <a:ext cx="1676400" cy="57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02 智能匹配推荐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E255B269-81DE-44CD-9DD9-C8452CF419F8}"/>
              </a:ext>
            </a:extLst>
          </p:cNvPr>
          <p:cNvSpPr>
            <a:spLocks noGrp="1"/>
          </p:cNvSpPr>
          <p:nvPr/>
        </p:nvSpPr>
        <p:spPr>
          <a:xfrm>
            <a:off x="3149600" y="3683000"/>
            <a:ext cx="1676400" cy="1333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基于兴趣、专业与生活习惯等多维标签，系统算法智能推送最契合的饭搭子人选。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B9B07D06-ECCE-40EE-B6B1-32AFD1B92C2F}"/>
              </a:ext>
            </a:extLst>
          </p:cNvPr>
          <p:cNvSpPr>
            <a:spLocks noGrp="1"/>
          </p:cNvSpPr>
          <p:nvPr/>
        </p:nvSpPr>
        <p:spPr>
          <a:xfrm>
            <a:off x="51308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42" name="Pictur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2476500"/>
            <a:ext cx="406400" cy="4064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782E8E08-B937-4D04-BA5D-28E97C42F4FF}"/>
              </a:ext>
            </a:extLst>
          </p:cNvPr>
          <p:cNvSpPr>
            <a:spLocks noGrp="1"/>
          </p:cNvSpPr>
          <p:nvPr/>
        </p:nvSpPr>
        <p:spPr>
          <a:xfrm>
            <a:off x="5334000" y="3048000"/>
            <a:ext cx="1676400" cy="57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03 站内沟通确认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0F662DA1-F555-4FBC-804A-99D828497651}"/>
              </a:ext>
            </a:extLst>
          </p:cNvPr>
          <p:cNvSpPr>
            <a:spLocks noGrp="1"/>
          </p:cNvSpPr>
          <p:nvPr/>
        </p:nvSpPr>
        <p:spPr>
          <a:xfrm>
            <a:off x="5334000" y="3683000"/>
            <a:ext cx="1676400" cy="1333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通过内置IM确认细节，系统提供趣味破冰话题，轻松化解初识尴尬，自然开启交流。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9E59D82-2156-4923-963F-48952A35960E}"/>
              </a:ext>
            </a:extLst>
          </p:cNvPr>
          <p:cNvSpPr>
            <a:spLocks noGrp="1"/>
          </p:cNvSpPr>
          <p:nvPr/>
        </p:nvSpPr>
        <p:spPr>
          <a:xfrm>
            <a:off x="73152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46" name="Pictur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8400" y="2476500"/>
            <a:ext cx="406400" cy="4064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F403C888-AD7A-436D-A9FC-1C80DA98FAAD}"/>
              </a:ext>
            </a:extLst>
          </p:cNvPr>
          <p:cNvSpPr>
            <a:spLocks noGrp="1"/>
          </p:cNvSpPr>
          <p:nvPr/>
        </p:nvSpPr>
        <p:spPr>
          <a:xfrm>
            <a:off x="7518400" y="3048000"/>
            <a:ext cx="1676400" cy="57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04 线下赴约用餐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F17DDA25-2133-4BB4-98F3-3A999844AFE9}"/>
              </a:ext>
            </a:extLst>
          </p:cNvPr>
          <p:cNvSpPr>
            <a:spLocks noGrp="1"/>
          </p:cNvSpPr>
          <p:nvPr/>
        </p:nvSpPr>
        <p:spPr>
          <a:xfrm>
            <a:off x="7518400" y="3683000"/>
            <a:ext cx="1676400" cy="1333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走出虚拟网络，在真实场景中共享美食与面对面的畅谈，建立有温度的线下社交连接。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495D616B-A513-4CA7-8BF3-13DDD0009DB5}"/>
              </a:ext>
            </a:extLst>
          </p:cNvPr>
          <p:cNvSpPr>
            <a:spLocks noGrp="1"/>
          </p:cNvSpPr>
          <p:nvPr/>
        </p:nvSpPr>
        <p:spPr>
          <a:xfrm>
            <a:off x="94996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50" name="Picture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2800" y="2476500"/>
            <a:ext cx="406400" cy="406400"/>
          </a:xfrm>
          <a:prstGeom prst="rect">
            <a:avLst/>
          </a:prstGeom>
        </p:spPr>
      </p:pic>
      <p:sp>
        <p:nvSpPr>
          <p:cNvPr id="22" name="AutoShape 22">
            <a:extLst>
              <a:ext uri="{FF2B5EF4-FFF2-40B4-BE49-F238E27FC236}">
                <a16:creationId xmlns:a16="http://schemas.microsoft.com/office/drawing/2014/main" id="{D337F28F-A2D8-4795-8E5D-33EA393C75CD}"/>
              </a:ext>
            </a:extLst>
          </p:cNvPr>
          <p:cNvSpPr>
            <a:spLocks noGrp="1"/>
          </p:cNvSpPr>
          <p:nvPr/>
        </p:nvSpPr>
        <p:spPr>
          <a:xfrm>
            <a:off x="9702800" y="3048000"/>
            <a:ext cx="1676400" cy="57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05 社区内容分享</a:t>
            </a: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9047FE9D-F2B9-4CB8-A414-860CCE8CE02C}"/>
              </a:ext>
            </a:extLst>
          </p:cNvPr>
          <p:cNvSpPr>
            <a:spLocks noGrp="1"/>
          </p:cNvSpPr>
          <p:nvPr/>
        </p:nvSpPr>
        <p:spPr>
          <a:xfrm>
            <a:off x="9702800" y="3683000"/>
            <a:ext cx="1676400" cy="1333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餐后在校园社区分享探店体验与精彩瞬间，沉淀社交记忆，吸引更多同好互动与共鸣。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8B5B6F19-3E1F-4DC1-9663-521C241A2F57}"/>
              </a:ext>
            </a:extLst>
          </p:cNvPr>
          <p:cNvSpPr>
            <a:spLocks noGrp="1"/>
          </p:cNvSpPr>
          <p:nvPr/>
        </p:nvSpPr>
        <p:spPr>
          <a:xfrm>
            <a:off x="762000" y="5613400"/>
            <a:ext cx="10820400" cy="8128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C832637C-61B3-4A10-AD90-60AFA7FB6219}"/>
              </a:ext>
            </a:extLst>
          </p:cNvPr>
          <p:cNvSpPr>
            <a:spLocks noGrp="1"/>
          </p:cNvSpPr>
          <p:nvPr/>
        </p:nvSpPr>
        <p:spPr>
          <a:xfrm>
            <a:off x="901700" y="5740400"/>
            <a:ext cx="10541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价值闭环：打造“线上高效匹配 + 线下真实社交 + 社区内容沉淀”的完整校园美食社交生态。</a:t>
            </a:r>
          </a:p>
        </p:txBody>
      </p:sp>
    </p:spTree>
    <p:extLst>
      <p:ext uri="{BB962C8B-B14F-4D97-AF65-F5344CB8AC3E}">
        <p14:creationId xmlns:p14="http://schemas.microsoft.com/office/powerpoint/2010/main" val="36682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1F65723-323B-478F-86B9-CF049622A3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6EC669B-93E7-415C-A62C-448DD96261B6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核心界面原型展示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5FBA600-E3CF-4736-BCE8-1637105C60F0}"/>
              </a:ext>
            </a:extLst>
          </p:cNvPr>
          <p:cNvSpPr>
            <a:spLocks noGrp="1"/>
          </p:cNvSpPr>
          <p:nvPr/>
        </p:nvSpPr>
        <p:spPr>
          <a:xfrm>
            <a:off x="7620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5FA76333-AC6D-477E-8921-7D6EE564D4D5}"/>
              </a:ext>
            </a:extLst>
          </p:cNvPr>
          <p:cNvSpPr>
            <a:spLocks noGrp="1"/>
          </p:cNvSpPr>
          <p:nvPr/>
        </p:nvSpPr>
        <p:spPr>
          <a:xfrm>
            <a:off x="1587500" y="2032000"/>
            <a:ext cx="4191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01 约饭匹配页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2D7CB1A-5A6F-4E7C-8A6A-79D5D1C1CD49}"/>
              </a:ext>
            </a:extLst>
          </p:cNvPr>
          <p:cNvSpPr>
            <a:spLocks noGrp="1"/>
          </p:cNvSpPr>
          <p:nvPr/>
        </p:nvSpPr>
        <p:spPr>
          <a:xfrm>
            <a:off x="1016000" y="2603500"/>
            <a:ext cx="47625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采用轻量化卡片设计，直观呈现邀约时间、地点与用户标签，内置智能破冰话题推荐，让陌生社交快速破冰，高效建立连接。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3A4FF71-AD54-42A1-96AA-DBE0BE6ADA21}"/>
              </a:ext>
            </a:extLst>
          </p:cNvPr>
          <p:cNvSpPr>
            <a:spLocks noGrp="1"/>
          </p:cNvSpPr>
          <p:nvPr/>
        </p:nvSpPr>
        <p:spPr>
          <a:xfrm>
            <a:off x="61595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032000"/>
            <a:ext cx="457200" cy="4572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DBECD46C-CBF3-40F0-A57A-E887E1EB488A}"/>
              </a:ext>
            </a:extLst>
          </p:cNvPr>
          <p:cNvSpPr>
            <a:spLocks noGrp="1"/>
          </p:cNvSpPr>
          <p:nvPr/>
        </p:nvSpPr>
        <p:spPr>
          <a:xfrm>
            <a:off x="6985000" y="2032000"/>
            <a:ext cx="4191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02 聊天沟通页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22816BA7-604D-4D3C-B098-F8C409E8627B}"/>
              </a:ext>
            </a:extLst>
          </p:cNvPr>
          <p:cNvSpPr>
            <a:spLocks noGrp="1"/>
          </p:cNvSpPr>
          <p:nvPr/>
        </p:nvSpPr>
        <p:spPr>
          <a:xfrm>
            <a:off x="6413500" y="2603500"/>
            <a:ext cx="47625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站内闭环的即时通讯界面，顶部自动推送场景化破冰提示与话题灵感，支持图片、语音等多元消息形式，让交流更自然顺畅。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5BF2AFE-52A8-4054-B2F0-90CD8B485047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5" name="Pictur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457200" cy="4572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86D0C1F2-2209-486E-91C1-0DF84AE0F1BA}"/>
              </a:ext>
            </a:extLst>
          </p:cNvPr>
          <p:cNvSpPr>
            <a:spLocks noGrp="1"/>
          </p:cNvSpPr>
          <p:nvPr/>
        </p:nvSpPr>
        <p:spPr>
          <a:xfrm>
            <a:off x="1587500" y="4445000"/>
            <a:ext cx="4191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03 饭后社区页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563D6DD-1E79-44B5-A12B-54DADB5A7290}"/>
              </a:ext>
            </a:extLst>
          </p:cNvPr>
          <p:cNvSpPr>
            <a:spLocks noGrp="1"/>
          </p:cNvSpPr>
          <p:nvPr/>
        </p:nvSpPr>
        <p:spPr>
          <a:xfrm>
            <a:off x="1016000" y="5016500"/>
            <a:ext cx="47625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聚合餐厅探店、生活分享等多元内容的信息流广场，支持点赞、评论、关注互动，打造活跃的线下社交后延社区氛围。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5D5BAD3-D7C5-4AAB-9167-EABA9D1C437B}"/>
              </a:ext>
            </a:extLst>
          </p:cNvPr>
          <p:cNvSpPr>
            <a:spLocks noGrp="1"/>
          </p:cNvSpPr>
          <p:nvPr/>
        </p:nvSpPr>
        <p:spPr>
          <a:xfrm>
            <a:off x="61595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9" name="Pictur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445000"/>
            <a:ext cx="457200" cy="4572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23594585-E0B2-46BA-A8AD-14FEA5BB4684}"/>
              </a:ext>
            </a:extLst>
          </p:cNvPr>
          <p:cNvSpPr>
            <a:spLocks noGrp="1"/>
          </p:cNvSpPr>
          <p:nvPr/>
        </p:nvSpPr>
        <p:spPr>
          <a:xfrm>
            <a:off x="6985000" y="4445000"/>
            <a:ext cx="4191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04 个人中心页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E593E770-8C50-46D8-A823-04DAD865F44A}"/>
              </a:ext>
            </a:extLst>
          </p:cNvPr>
          <p:cNvSpPr>
            <a:spLocks noGrp="1"/>
          </p:cNvSpPr>
          <p:nvPr/>
        </p:nvSpPr>
        <p:spPr>
          <a:xfrm>
            <a:off x="6413500" y="5016500"/>
            <a:ext cx="47625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一站式个人信息管理枢纽，支持资料编辑、兴趣标签定制与约饭记录回顾，助力用户打造个性化社交名片，轻松管理社交足迹。</a:t>
            </a:r>
          </a:p>
        </p:txBody>
      </p:sp>
    </p:spTree>
    <p:extLst>
      <p:ext uri="{BB962C8B-B14F-4D97-AF65-F5344CB8AC3E}">
        <p14:creationId xmlns:p14="http://schemas.microsoft.com/office/powerpoint/2010/main" val="135572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F183179-1CD3-448E-B9C0-372EF3B586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>
            <a:solidFill>
              <a:srgbClr val="000000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B3151F0-4F1F-4240-AD2A-B79D16EE8035}"/>
              </a:ext>
            </a:extLst>
          </p:cNvPr>
          <p:cNvSpPr>
            <a:spLocks noGrp="1"/>
          </p:cNvSpPr>
          <p:nvPr/>
        </p:nvSpPr>
        <p:spPr>
          <a:xfrm>
            <a:off x="0" y="2032000"/>
            <a:ext cx="12192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28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PART 02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B8EA69A-17AE-49E5-A764-4E41A2E90E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40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产品特色与市场调研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1A4E376-1AA4-4738-87B9-2D1F51C7D044}"/>
              </a:ext>
            </a:extLst>
          </p:cNvPr>
          <p:cNvSpPr>
            <a:spLocks noGrp="1"/>
          </p:cNvSpPr>
          <p:nvPr/>
        </p:nvSpPr>
        <p:spPr>
          <a:xfrm>
            <a:off x="5461000" y="4445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mpd="sng">
            <a:solidFill>
              <a:srgbClr val="0CAC47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5178D43-9488-49CC-B71A-34F692EACD10}"/>
              </a:ext>
            </a:extLst>
          </p:cNvPr>
          <p:cNvSpPr>
            <a:spLocks noGrp="1"/>
          </p:cNvSpPr>
          <p:nvPr/>
        </p:nvSpPr>
        <p:spPr>
          <a:xfrm>
            <a:off x="1270000" y="4953000"/>
            <a:ext cx="96520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6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深度解析产品核心竞争力，结合真实用户调研数据与市场反馈，</a:t>
            </a:r>
            <a:br/>
            <a:r>
              <a:rPr sz="16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全面呈现项目的独特价值与未来优化方向。</a:t>
            </a:r>
          </a:p>
        </p:txBody>
      </p:sp>
    </p:spTree>
    <p:extLst>
      <p:ext uri="{BB962C8B-B14F-4D97-AF65-F5344CB8AC3E}">
        <p14:creationId xmlns:p14="http://schemas.microsoft.com/office/powerpoint/2010/main" val="2146068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459BF27-B754-42EC-B776-D083D701F0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08AC877-2F43-4D48-AEE1-203D82146F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2476500"/>
          </a:xfrm>
          <a:prstGeom prst="ellipse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D213F4A-83E2-4420-8CD0-95692E11FEC6}"/>
              </a:ext>
            </a:extLst>
          </p:cNvPr>
          <p:cNvSpPr>
            <a:spLocks noGrp="1"/>
          </p:cNvSpPr>
          <p:nvPr/>
        </p:nvSpPr>
        <p:spPr>
          <a:xfrm>
            <a:off x="9144000" y="4762500"/>
            <a:ext cx="3048000" cy="2095500"/>
          </a:xfrm>
          <a:prstGeom prst="ellipse">
            <a:avLst/>
          </a:prstGeom>
          <a:solidFill>
            <a:srgbClr val="FFED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C54BD7-3E17-41CB-8DE5-7F26E9D4F2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F78C7B-D999-4425-A122-17A6BAE435CC}"/>
              </a:ext>
            </a:extLst>
          </p:cNvPr>
          <p:cNvSpPr>
            <a:spLocks noGrp="1"/>
          </p:cNvSpPr>
          <p:nvPr/>
        </p:nvSpPr>
        <p:spPr>
          <a:xfrm>
            <a:off x="762000" y="635032"/>
            <a:ext cx="1066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3200" b="1">
                <a:solidFill>
                  <a:srgbClr val="1F2937"/>
                </a:solidFill>
              </a:defRPr>
            </a:pPr>
            <a:r>
              <a:rPr sz="3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产品特色：以约饭卡承接低压力校园社交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680224-16BA-43DC-A951-353BE6A1E50A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1009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Ueat 的核心不是“再做一个聊天软件”，而是把学生每天都会发生的吃饭场景，设计成可信、可匹配、可继续沟通的轻社交入口。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E92A47-63B8-4424-8106-989DFDC76E91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2476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DD4DBB-928C-4A43-9531-6B3E575B19B1}"/>
              </a:ext>
            </a:extLst>
          </p:cNvPr>
          <p:cNvSpPr>
            <a:spLocks noGrp="1"/>
          </p:cNvSpPr>
          <p:nvPr/>
        </p:nvSpPr>
        <p:spPr>
          <a:xfrm>
            <a:off x="1028700" y="289560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01 卡片式匹配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5AA5BC-00E2-4533-BD62-DDF1C636CE9A}"/>
              </a:ext>
            </a:extLst>
          </p:cNvPr>
          <p:cNvSpPr>
            <a:spLocks noGrp="1"/>
          </p:cNvSpPr>
          <p:nvPr/>
        </p:nvSpPr>
        <p:spPr>
          <a:xfrm>
            <a:off x="1028700" y="3600450"/>
            <a:ext cx="19431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00" b="0">
                <a:solidFill>
                  <a:srgbClr val="4B5563"/>
                </a:solidFill>
              </a:defRPr>
            </a:pP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用约饭卡集中呈现时间、地点、饭局意图、兴趣标签和匹配理由。用户先判断是否合拍，再决定是否发起邀请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9BB65E-C9E5-4832-87F0-8815C46089EE}"/>
              </a:ext>
            </a:extLst>
          </p:cNvPr>
          <p:cNvSpPr>
            <a:spLocks noGrp="1"/>
          </p:cNvSpPr>
          <p:nvPr/>
        </p:nvSpPr>
        <p:spPr>
          <a:xfrm>
            <a:off x="3486150" y="2571750"/>
            <a:ext cx="2476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B3EF57-97C4-43D3-BFE7-C544944B9F3A}"/>
              </a:ext>
            </a:extLst>
          </p:cNvPr>
          <p:cNvSpPr>
            <a:spLocks noGrp="1"/>
          </p:cNvSpPr>
          <p:nvPr/>
        </p:nvSpPr>
        <p:spPr>
          <a:xfrm>
            <a:off x="3752850" y="289560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02 破冰支持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208D74-7946-46B7-9FE0-32E30C65A433}"/>
              </a:ext>
            </a:extLst>
          </p:cNvPr>
          <p:cNvSpPr>
            <a:spLocks noGrp="1"/>
          </p:cNvSpPr>
          <p:nvPr/>
        </p:nvSpPr>
        <p:spPr>
          <a:xfrm>
            <a:off x="3752850" y="3600450"/>
            <a:ext cx="19431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00" b="0">
                <a:solidFill>
                  <a:srgbClr val="4B5563"/>
                </a:solidFill>
              </a:defRPr>
            </a:pP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基于兴趣、场景和约饭文案生成低压力开场建议，回应调研中“不知道聊什么”“怕尴尬”的高频顾虑。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DB6393-69A6-40A8-8FA0-6BF74CECB956}"/>
              </a:ext>
            </a:extLst>
          </p:cNvPr>
          <p:cNvSpPr>
            <a:spLocks noGrp="1"/>
          </p:cNvSpPr>
          <p:nvPr/>
        </p:nvSpPr>
        <p:spPr>
          <a:xfrm>
            <a:off x="6210300" y="2571750"/>
            <a:ext cx="2476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C003D3-4D97-412A-99E3-0EB563DC7C32}"/>
              </a:ext>
            </a:extLst>
          </p:cNvPr>
          <p:cNvSpPr>
            <a:spLocks noGrp="1"/>
          </p:cNvSpPr>
          <p:nvPr/>
        </p:nvSpPr>
        <p:spPr>
          <a:xfrm>
            <a:off x="6477000" y="289560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03 站内闭环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9403B4-D9DC-4B11-988C-A92354595F5D}"/>
              </a:ext>
            </a:extLst>
          </p:cNvPr>
          <p:cNvSpPr>
            <a:spLocks noGrp="1"/>
          </p:cNvSpPr>
          <p:nvPr/>
        </p:nvSpPr>
        <p:spPr>
          <a:xfrm>
            <a:off x="6477000" y="3600450"/>
            <a:ext cx="19431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00" b="0">
                <a:solidFill>
                  <a:srgbClr val="4B5563"/>
                </a:solidFill>
              </a:defRPr>
            </a:pP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从浏览、邀请、聊天到反馈尽量留在平台内完成，减少联系方式过早暴露，也便于沉淀体验记录。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F07D38-69AC-49E0-AF6C-27922486A148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2476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607CCA-83B4-4290-8931-3C113867C4EA}"/>
              </a:ext>
            </a:extLst>
          </p:cNvPr>
          <p:cNvSpPr>
            <a:spLocks noGrp="1"/>
          </p:cNvSpPr>
          <p:nvPr/>
        </p:nvSpPr>
        <p:spPr>
          <a:xfrm>
            <a:off x="9201150" y="289560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04 安全边界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C58CAA-C0DB-4591-9061-8BD47CA3CE36}"/>
              </a:ext>
            </a:extLst>
          </p:cNvPr>
          <p:cNvSpPr>
            <a:spLocks noGrp="1"/>
          </p:cNvSpPr>
          <p:nvPr/>
        </p:nvSpPr>
        <p:spPr>
          <a:xfrm>
            <a:off x="9201150" y="3600450"/>
            <a:ext cx="19431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00" b="0">
                <a:solidFill>
                  <a:srgbClr val="4B5563"/>
                </a:solidFill>
              </a:defRPr>
            </a:pP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校园身份认证、隐私控制、屏蔽举报与管理员处理形成基础信任，让陌生同学约饭更可控。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F2801B9-8425-4679-8DEB-1EF788A309E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57200"/>
          </a:xfrm>
          <a:prstGeom prst="rect">
            <a:avLst/>
          </a:prstGeom>
          <a:solidFill>
            <a:srgbClr val="E9F7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9324FD-A20C-44F5-B51F-365CA4239443}"/>
              </a:ext>
            </a:extLst>
          </p:cNvPr>
          <p:cNvSpPr>
            <a:spLocks noGrp="1"/>
          </p:cNvSpPr>
          <p:nvPr/>
        </p:nvSpPr>
        <p:spPr>
          <a:xfrm>
            <a:off x="1066800" y="5934075"/>
            <a:ext cx="1000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0CAC47"/>
                </a:solidFill>
              </a:defRPr>
            </a:pPr>
            <a:r>
              <a:rPr sz="1350" b="1">
                <a:solidFill>
                  <a:srgbClr val="0CAC47"/>
                </a:solidFill>
                <a:latin typeface="Noto Sans SC"/>
                <a:ea typeface="Noto Sans SC"/>
                <a:cs typeface="Noto Sans SC"/>
              </a:rPr>
              <a:t>特色落点：先降低第一次线下互动门槛，再用聊天、社区与反馈机制承接后续关系。</a:t>
            </a:r>
          </a:p>
        </p:txBody>
      </p:sp>
    </p:spTree>
    <p:extLst>
      <p:ext uri="{BB962C8B-B14F-4D97-AF65-F5344CB8AC3E}">
        <p14:creationId xmlns:p14="http://schemas.microsoft.com/office/powerpoint/2010/main" val="1484301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827568C-6B6E-4E95-8E77-FDBDD4CECA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F005E39-9F93-4FFE-8499-A73582AD4D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2476500"/>
          </a:xfrm>
          <a:prstGeom prst="ellipse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361E386-577F-4264-8D4E-BF61A801AAC4}"/>
              </a:ext>
            </a:extLst>
          </p:cNvPr>
          <p:cNvSpPr>
            <a:spLocks noGrp="1"/>
          </p:cNvSpPr>
          <p:nvPr/>
        </p:nvSpPr>
        <p:spPr>
          <a:xfrm>
            <a:off x="9144000" y="4762500"/>
            <a:ext cx="3048000" cy="2095500"/>
          </a:xfrm>
          <a:prstGeom prst="ellipse">
            <a:avLst/>
          </a:prstGeom>
          <a:solidFill>
            <a:srgbClr val="FFED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EC6E98-CA2A-4A83-81E8-69213A3998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D6950E-8145-4433-BC45-B58B3FAB74D3}"/>
              </a:ext>
            </a:extLst>
          </p:cNvPr>
          <p:cNvSpPr>
            <a:spLocks noGrp="1"/>
          </p:cNvSpPr>
          <p:nvPr/>
        </p:nvSpPr>
        <p:spPr>
          <a:xfrm>
            <a:off x="762000" y="635032"/>
            <a:ext cx="1066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3200" b="1">
                <a:solidFill>
                  <a:srgbClr val="1F2937"/>
                </a:solidFill>
              </a:defRPr>
            </a:pPr>
            <a:r>
              <a:rPr sz="3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创新点：从原型功能走向智能化与工程化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C85343-56E1-43E0-85B6-CF02B41CB241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相较第一次迭代的界面原型，当前版本把“好看、能用”的产品想法推进为可真实内测的工程原型。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AB948D-2EA8-4BF9-A577-1446F6C4297C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4953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518EEA-B03F-41A0-A30D-D1EB8650E58D}"/>
              </a:ext>
            </a:extLst>
          </p:cNvPr>
          <p:cNvSpPr>
            <a:spLocks noGrp="1"/>
          </p:cNvSpPr>
          <p:nvPr/>
        </p:nvSpPr>
        <p:spPr>
          <a:xfrm>
            <a:off x="1028700" y="2647950"/>
            <a:ext cx="4419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01 推荐创新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83ECD6-E325-4E7D-8495-14473923AC7E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44196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5" b="0">
                <a:solidFill>
                  <a:srgbClr val="4B5563"/>
                </a:solidFill>
              </a:defRPr>
            </a:pPr>
            <a:r>
              <a:rPr sz="1165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首页约饭卡排序从简单标签筛选扩展为混合语义推荐：标准标签归一、维度兼容、向量相似与行为反馈共同影响推荐结果。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9DBA64-4CE4-45F9-BCC1-46ADD1433165}"/>
              </a:ext>
            </a:extLst>
          </p:cNvPr>
          <p:cNvSpPr>
            <a:spLocks noGrp="1"/>
          </p:cNvSpPr>
          <p:nvPr/>
        </p:nvSpPr>
        <p:spPr>
          <a:xfrm>
            <a:off x="6477000" y="2400300"/>
            <a:ext cx="4953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31B5C4-29E5-483B-B4AB-801A5E13FD3D}"/>
              </a:ext>
            </a:extLst>
          </p:cNvPr>
          <p:cNvSpPr>
            <a:spLocks noGrp="1"/>
          </p:cNvSpPr>
          <p:nvPr/>
        </p:nvSpPr>
        <p:spPr>
          <a:xfrm>
            <a:off x="6743700" y="2647950"/>
            <a:ext cx="4419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02 AI 破冰创新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2A820F-05A9-4568-A900-A5E5A73878FE}"/>
              </a:ext>
            </a:extLst>
          </p:cNvPr>
          <p:cNvSpPr>
            <a:spLocks noGrp="1"/>
          </p:cNvSpPr>
          <p:nvPr/>
        </p:nvSpPr>
        <p:spPr>
          <a:xfrm>
            <a:off x="6743700" y="3143250"/>
            <a:ext cx="44196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5" b="0">
                <a:solidFill>
                  <a:srgbClr val="4B5563"/>
                </a:solidFill>
              </a:defRPr>
            </a:pPr>
            <a:r>
              <a:rPr sz="1165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AI 不是炫技入口，而是嵌入聊天与约饭场景，帮助用户把“想认识”转化为自然可说的第一句话。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93B3D8-B64B-44F8-8484-12FE8FFB8AD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4953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5F001B-4DB4-4153-9BE9-C6242DB640EF}"/>
              </a:ext>
            </a:extLst>
          </p:cNvPr>
          <p:cNvSpPr>
            <a:spLocks noGrp="1"/>
          </p:cNvSpPr>
          <p:nvPr/>
        </p:nvSpPr>
        <p:spPr>
          <a:xfrm>
            <a:off x="1028700" y="4343400"/>
            <a:ext cx="4419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03 跨端工程创新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1BB082-6576-4DA7-83EE-52AE98EE6BE8}"/>
              </a:ext>
            </a:extLst>
          </p:cNvPr>
          <p:cNvSpPr>
            <a:spLocks noGrp="1"/>
          </p:cNvSpPr>
          <p:nvPr/>
        </p:nvSpPr>
        <p:spPr>
          <a:xfrm>
            <a:off x="1028700" y="4838700"/>
            <a:ext cx="44196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5" b="0">
                <a:solidFill>
                  <a:srgbClr val="4B5563"/>
                </a:solidFill>
              </a:defRPr>
            </a:pPr>
            <a:r>
              <a:rPr sz="1165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Web 与 Android 共用一套前端能力，后端接入 PostgreSQL 与 WebSocket，支持约饭、社区、聊天三条主链路。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44738E-6449-42CE-B858-BE5A4F29E405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4953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901A03-24D6-4763-B51F-A1EF9604A840}"/>
              </a:ext>
            </a:extLst>
          </p:cNvPr>
          <p:cNvSpPr>
            <a:spLocks noGrp="1"/>
          </p:cNvSpPr>
          <p:nvPr/>
        </p:nvSpPr>
        <p:spPr>
          <a:xfrm>
            <a:off x="6743700" y="4343400"/>
            <a:ext cx="4419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04 轻量陪伴创新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1390AB-C1AA-4781-96F2-9D916E82C90D}"/>
              </a:ext>
            </a:extLst>
          </p:cNvPr>
          <p:cNvSpPr>
            <a:spLocks noGrp="1"/>
          </p:cNvSpPr>
          <p:nvPr/>
        </p:nvSpPr>
        <p:spPr>
          <a:xfrm>
            <a:off x="6743700" y="4838700"/>
            <a:ext cx="44196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65" b="0">
                <a:solidFill>
                  <a:srgbClr val="4B5563"/>
                </a:solidFill>
              </a:defRPr>
            </a:pPr>
            <a:r>
              <a:rPr sz="1165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桌宠与头像贴纸作为默认可关闭的情感增强项，服务于留存和亲和感，而不干扰约饭主流程。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918BA9-ACF0-451E-8A04-43CD7664C60F}"/>
              </a:ext>
            </a:extLst>
          </p:cNvPr>
          <p:cNvSpPr>
            <a:spLocks noGrp="1"/>
          </p:cNvSpPr>
          <p:nvPr/>
        </p:nvSpPr>
        <p:spPr>
          <a:xfrm>
            <a:off x="1047750" y="6000750"/>
            <a:ext cx="1009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0CAC47"/>
                </a:solidFill>
              </a:defRPr>
            </a:pPr>
            <a:r>
              <a:rPr sz="1350" b="1">
                <a:solidFill>
                  <a:srgbClr val="0CAC47"/>
                </a:solidFill>
                <a:latin typeface="Noto Sans SC"/>
                <a:ea typeface="Noto Sans SC"/>
                <a:cs typeface="Noto Sans SC"/>
              </a:rPr>
              <a:t>迭代逻辑：第一版验证“需求成立”，第二版补齐“技术支撑”，当前版强调“真实用户反馈驱动体验细节”。</a:t>
            </a:r>
          </a:p>
        </p:txBody>
      </p:sp>
    </p:spTree>
    <p:extLst>
      <p:ext uri="{BB962C8B-B14F-4D97-AF65-F5344CB8AC3E}">
        <p14:creationId xmlns:p14="http://schemas.microsoft.com/office/powerpoint/2010/main" val="2093341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7C63BC58-7432-4B50-82DF-A7A053C64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E33D141-5BFE-43B9-B12C-BA89272945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2476500"/>
          </a:xfrm>
          <a:prstGeom prst="ellipse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664D7CD-0E51-41CB-867E-897CF419D445}"/>
              </a:ext>
            </a:extLst>
          </p:cNvPr>
          <p:cNvSpPr>
            <a:spLocks noGrp="1"/>
          </p:cNvSpPr>
          <p:nvPr/>
        </p:nvSpPr>
        <p:spPr>
          <a:xfrm>
            <a:off x="9144000" y="4762500"/>
            <a:ext cx="3048000" cy="2095500"/>
          </a:xfrm>
          <a:prstGeom prst="ellipse">
            <a:avLst/>
          </a:prstGeom>
          <a:solidFill>
            <a:srgbClr val="FFED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C409CC-62E0-4944-9AD1-5FEADF5947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00F2F8-8D52-48C7-B7D8-D2B8F911BEA4}"/>
              </a:ext>
            </a:extLst>
          </p:cNvPr>
          <p:cNvSpPr>
            <a:spLocks noGrp="1"/>
          </p:cNvSpPr>
          <p:nvPr/>
        </p:nvSpPr>
        <p:spPr>
          <a:xfrm>
            <a:off x="762000" y="635032"/>
            <a:ext cx="1066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3200" b="1">
                <a:solidFill>
                  <a:srgbClr val="1F2937"/>
                </a:solidFill>
              </a:defRPr>
            </a:pPr>
            <a:r>
              <a:rPr sz="3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产品特色来自三轮市场调研与迭代验证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3BED2D-64C7-49DF-BA02-87BDFC24A123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本部分不是单纯罗列功能，而是说明：每个产品特色都来自用户问题、调研证据和迭代反馈。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575CFF6-E855-43FC-9CDD-54282253F0D2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29718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56C6C3-374B-420A-8F24-591B6D51DB0B}"/>
              </a:ext>
            </a:extLst>
          </p:cNvPr>
          <p:cNvSpPr>
            <a:spLocks noGrp="1"/>
          </p:cNvSpPr>
          <p:nvPr/>
        </p:nvSpPr>
        <p:spPr>
          <a:xfrm>
            <a:off x="1143000" y="2971800"/>
            <a:ext cx="57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858D5A-BAD3-4131-86E9-A521A623A9E6}"/>
              </a:ext>
            </a:extLst>
          </p:cNvPr>
          <p:cNvSpPr>
            <a:spLocks noGrp="1"/>
          </p:cNvSpPr>
          <p:nvPr/>
        </p:nvSpPr>
        <p:spPr>
          <a:xfrm>
            <a:off x="1790700" y="30289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F2F2D"/>
                </a:solidFill>
              </a:defRPr>
            </a:pPr>
            <a:r>
              <a:rPr sz="20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第一次迭代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C779B3-857D-4106-AA88-2CF7DE36ACE7}"/>
              </a:ext>
            </a:extLst>
          </p:cNvPr>
          <p:cNvSpPr>
            <a:spLocks noGrp="1"/>
          </p:cNvSpPr>
          <p:nvPr/>
        </p:nvSpPr>
        <p:spPr>
          <a:xfrm>
            <a:off x="1143000" y="36004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CAC47"/>
                </a:solidFill>
              </a:defRPr>
            </a:pPr>
            <a:r>
              <a:rPr sz="1275" b="1">
                <a:solidFill>
                  <a:srgbClr val="0CAC47"/>
                </a:solidFill>
              </a:rPr>
              <a:t>问卷 / 社区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EE7B75-3CD1-49BF-8502-9B7628DC077A}"/>
              </a:ext>
            </a:extLst>
          </p:cNvPr>
          <p:cNvSpPr>
            <a:spLocks noGrp="1"/>
          </p:cNvSpPr>
          <p:nvPr/>
        </p:nvSpPr>
        <p:spPr>
          <a:xfrm>
            <a:off x="1143000" y="4000500"/>
            <a:ext cx="25146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需求调研问卷 + 水源社区发帖引流</a:t>
            </a:r>
          </a:p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验证约饭需求、外观偏好和基础原型接受度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5F80379-D1FF-4E39-BC09-9EE5FC40BB67}"/>
              </a:ext>
            </a:extLst>
          </p:cNvPr>
          <p:cNvSpPr>
            <a:spLocks noGrp="1"/>
          </p:cNvSpPr>
          <p:nvPr/>
        </p:nvSpPr>
        <p:spPr>
          <a:xfrm>
            <a:off x="4381500" y="2743200"/>
            <a:ext cx="29718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E41126-39BE-4CCE-993E-A206D9A32C5D}"/>
              </a:ext>
            </a:extLst>
          </p:cNvPr>
          <p:cNvSpPr>
            <a:spLocks noGrp="1"/>
          </p:cNvSpPr>
          <p:nvPr/>
        </p:nvSpPr>
        <p:spPr>
          <a:xfrm>
            <a:off x="4610100" y="2971800"/>
            <a:ext cx="57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C7C3F6-CC46-4D42-BC96-BBF2D686161E}"/>
              </a:ext>
            </a:extLst>
          </p:cNvPr>
          <p:cNvSpPr>
            <a:spLocks noGrp="1"/>
          </p:cNvSpPr>
          <p:nvPr/>
        </p:nvSpPr>
        <p:spPr>
          <a:xfrm>
            <a:off x="5257800" y="30289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F2F2D"/>
                </a:solidFill>
              </a:defRPr>
            </a:pPr>
            <a:r>
              <a:rPr sz="22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第二次迭代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AC6324-EE2D-417E-B3D8-90AF8729E707}"/>
              </a:ext>
            </a:extLst>
          </p:cNvPr>
          <p:cNvSpPr>
            <a:spLocks noGrp="1"/>
          </p:cNvSpPr>
          <p:nvPr/>
        </p:nvSpPr>
        <p:spPr>
          <a:xfrm>
            <a:off x="4610100" y="36004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CAC47"/>
                </a:solidFill>
              </a:defRPr>
            </a:pPr>
            <a:r>
              <a:rPr sz="1275" b="1">
                <a:solidFill>
                  <a:srgbClr val="0CAC47"/>
                </a:solidFill>
              </a:rPr>
              <a:t>潜在用户深访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FAAA15-0EDC-44F0-8A7D-7AAC4E6EEC7A}"/>
              </a:ext>
            </a:extLst>
          </p:cNvPr>
          <p:cNvSpPr>
            <a:spLocks noGrp="1"/>
          </p:cNvSpPr>
          <p:nvPr/>
        </p:nvSpPr>
        <p:spPr>
          <a:xfrm>
            <a:off x="4610100" y="4000500"/>
            <a:ext cx="25146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15-30 分钟深入讨论</a:t>
            </a:r>
          </a:p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邀请有约饭或社交需求的同学体验新版本，收集满意度和体验问题。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9466DFB-E23E-4473-84F1-BB476A092BBC}"/>
              </a:ext>
            </a:extLst>
          </p:cNvPr>
          <p:cNvSpPr>
            <a:spLocks noGrp="1"/>
          </p:cNvSpPr>
          <p:nvPr/>
        </p:nvSpPr>
        <p:spPr>
          <a:xfrm>
            <a:off x="7848600" y="2743200"/>
            <a:ext cx="29718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FD4A00-6877-4508-8ECA-578DE149CEC6}"/>
              </a:ext>
            </a:extLst>
          </p:cNvPr>
          <p:cNvSpPr>
            <a:spLocks noGrp="1"/>
          </p:cNvSpPr>
          <p:nvPr/>
        </p:nvSpPr>
        <p:spPr>
          <a:xfrm>
            <a:off x="8077200" y="2971800"/>
            <a:ext cx="57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F98F10-BE89-4E15-A40E-FCD83BBD8A9A}"/>
              </a:ext>
            </a:extLst>
          </p:cNvPr>
          <p:cNvSpPr>
            <a:spLocks noGrp="1"/>
          </p:cNvSpPr>
          <p:nvPr/>
        </p:nvSpPr>
        <p:spPr>
          <a:xfrm>
            <a:off x="8724900" y="30289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1F2F2D"/>
                </a:solidFill>
              </a:defRPr>
            </a:pPr>
            <a:r>
              <a:rPr sz="200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第三次迭代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1025E2-EBC0-4927-A8C1-F6527245D341}"/>
              </a:ext>
            </a:extLst>
          </p:cNvPr>
          <p:cNvSpPr>
            <a:spLocks noGrp="1"/>
          </p:cNvSpPr>
          <p:nvPr/>
        </p:nvSpPr>
        <p:spPr>
          <a:xfrm>
            <a:off x="8077200" y="36004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CAC47"/>
                </a:solidFill>
              </a:defRPr>
            </a:pPr>
            <a:r>
              <a:rPr sz="1275" b="1">
                <a:solidFill>
                  <a:srgbClr val="0CAC47"/>
                </a:solidFill>
              </a:rPr>
              <a:t>深访 / AB 对比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4FB1F3-2657-4EA9-B6D3-BE7C0D75C81C}"/>
              </a:ext>
            </a:extLst>
          </p:cNvPr>
          <p:cNvSpPr>
            <a:spLocks noGrp="1"/>
          </p:cNvSpPr>
          <p:nvPr/>
        </p:nvSpPr>
        <p:spPr>
          <a:xfrm>
            <a:off x="8077200" y="4000500"/>
            <a:ext cx="25146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继续深访与 AB 对比</a:t>
            </a:r>
          </a:p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围绕全屏卡片、社区白边、桌宠、新手导引、群聊等细节收敛优先级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8ADE18-707D-4BBA-A0A8-F05F26AAA9A1}"/>
              </a:ext>
            </a:extLst>
          </p:cNvPr>
          <p:cNvSpPr>
            <a:spLocks noGrp="1"/>
          </p:cNvSpPr>
          <p:nvPr/>
        </p:nvSpPr>
        <p:spPr>
          <a:xfrm>
            <a:off x="3886200" y="3781425"/>
            <a:ext cx="495300" cy="28575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176D8A-EC13-49B1-8F04-7CF020C67DFB}"/>
              </a:ext>
            </a:extLst>
          </p:cNvPr>
          <p:cNvSpPr>
            <a:spLocks noGrp="1"/>
          </p:cNvSpPr>
          <p:nvPr/>
        </p:nvSpPr>
        <p:spPr>
          <a:xfrm>
            <a:off x="7353300" y="3781425"/>
            <a:ext cx="495300" cy="28575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DB3151-F4A4-4A2F-894E-63E726788380}"/>
              </a:ext>
            </a:extLst>
          </p:cNvPr>
          <p:cNvSpPr>
            <a:spLocks noGrp="1"/>
          </p:cNvSpPr>
          <p:nvPr/>
        </p:nvSpPr>
        <p:spPr>
          <a:xfrm>
            <a:off x="1524000" y="571500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CAC47"/>
                </a:solidFill>
              </a:defRPr>
            </a:pPr>
            <a:r>
              <a:rPr sz="1800" b="1">
                <a:solidFill>
                  <a:srgbClr val="0CAC47"/>
                </a:solidFill>
                <a:latin typeface="Noto Sans SC"/>
                <a:ea typeface="Noto Sans SC"/>
                <a:cs typeface="Noto Sans SC"/>
              </a:rPr>
              <a:t>调研方法演进：从“有没有需求”到“哪些细节让用户愿意留下来用”。</a:t>
            </a:r>
          </a:p>
        </p:txBody>
      </p:sp>
    </p:spTree>
    <p:extLst>
      <p:ext uri="{BB962C8B-B14F-4D97-AF65-F5344CB8AC3E}">
        <p14:creationId xmlns:p14="http://schemas.microsoft.com/office/powerpoint/2010/main" val="234118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81F326F7-3F70-4AD1-BC19-F2C9B95002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E9C6111-AE86-493A-A88E-A7B2F6C977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2476500"/>
          </a:xfrm>
          <a:prstGeom prst="ellipse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FEB52C3-FE84-4D5B-BB8D-73523AF4F7D3}"/>
              </a:ext>
            </a:extLst>
          </p:cNvPr>
          <p:cNvSpPr>
            <a:spLocks noGrp="1"/>
          </p:cNvSpPr>
          <p:nvPr/>
        </p:nvSpPr>
        <p:spPr>
          <a:xfrm>
            <a:off x="9144000" y="4762500"/>
            <a:ext cx="3048000" cy="2095500"/>
          </a:xfrm>
          <a:prstGeom prst="ellipse">
            <a:avLst/>
          </a:prstGeom>
          <a:solidFill>
            <a:srgbClr val="FFED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F6B084-E524-48A3-A8BA-AF413D1B5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D53F91-B490-4D35-8084-47C9978103CC}"/>
              </a:ext>
            </a:extLst>
          </p:cNvPr>
          <p:cNvSpPr>
            <a:spLocks noGrp="1"/>
          </p:cNvSpPr>
          <p:nvPr/>
        </p:nvSpPr>
        <p:spPr>
          <a:xfrm>
            <a:off x="762000" y="635032"/>
            <a:ext cx="1066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3200" b="1">
                <a:solidFill>
                  <a:srgbClr val="1F2937"/>
                </a:solidFill>
              </a:defRPr>
            </a:pPr>
            <a:r>
              <a:rPr sz="3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第一次迭代问卷验证了核心需求与功能优先级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8DC287-6F0C-45AD-A344-D897BE801602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1009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4B5563"/>
                </a:solidFill>
              </a:defRPr>
            </a:pPr>
            <a:r>
              <a:rPr sz="16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58 份有效问卷显示：校园约饭不是无边界陌生人社交，而是有条件接受、强依赖匹配和破冰支持的低压力互动。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A41A06-06F2-4F42-B5B5-37A8C6B8015E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2381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D9E70C-5B92-4FDD-97F4-7F7AAFFDD828}"/>
              </a:ext>
            </a:extLst>
          </p:cNvPr>
          <p:cNvSpPr>
            <a:spLocks noGrp="1"/>
          </p:cNvSpPr>
          <p:nvPr/>
        </p:nvSpPr>
        <p:spPr>
          <a:xfrm>
            <a:off x="1009650" y="2705100"/>
            <a:ext cx="1885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22C55E"/>
                </a:solidFill>
              </a:defRPr>
            </a:pPr>
            <a:r>
              <a:rPr sz="2700" b="1">
                <a:solidFill>
                  <a:srgbClr val="22C55E"/>
                </a:solidFill>
              </a:rPr>
              <a:t>63.8%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2C5000-B646-4858-8902-BBE0270BBF45}"/>
              </a:ext>
            </a:extLst>
          </p:cNvPr>
          <p:cNvSpPr>
            <a:spLocks noGrp="1"/>
          </p:cNvSpPr>
          <p:nvPr/>
        </p:nvSpPr>
        <p:spPr>
          <a:xfrm>
            <a:off x="1009650" y="320040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00" b="1">
                <a:solidFill>
                  <a:srgbClr val="1F2937"/>
                </a:solidFill>
              </a:defRPr>
            </a:pPr>
            <a:r>
              <a:rPr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每周 8 顿以上独自吃饭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8C7D41-1ED0-4E6C-98B7-7F37A2934675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205676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说明用餐是高频、真实、可触发陪伴需求的校园场景。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8F2A7F-5F0B-4DA8-AF1D-EF3DDF7A4306}"/>
              </a:ext>
            </a:extLst>
          </p:cNvPr>
          <p:cNvSpPr>
            <a:spLocks noGrp="1"/>
          </p:cNvSpPr>
          <p:nvPr/>
        </p:nvSpPr>
        <p:spPr>
          <a:xfrm>
            <a:off x="3390900" y="2495550"/>
            <a:ext cx="2381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3FD743-B1E2-40B2-8AD2-CFAC651B7C62}"/>
              </a:ext>
            </a:extLst>
          </p:cNvPr>
          <p:cNvSpPr>
            <a:spLocks noGrp="1"/>
          </p:cNvSpPr>
          <p:nvPr/>
        </p:nvSpPr>
        <p:spPr>
          <a:xfrm>
            <a:off x="3638550" y="2705100"/>
            <a:ext cx="1885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22C55E"/>
                </a:solidFill>
              </a:defRPr>
            </a:pPr>
            <a:r>
              <a:rPr sz="2700" b="1">
                <a:solidFill>
                  <a:srgbClr val="22C55E"/>
                </a:solidFill>
              </a:rPr>
              <a:t>82.7%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940362-9E67-4943-A28F-3A38E24390CE}"/>
              </a:ext>
            </a:extLst>
          </p:cNvPr>
          <p:cNvSpPr>
            <a:spLocks noGrp="1"/>
          </p:cNvSpPr>
          <p:nvPr/>
        </p:nvSpPr>
        <p:spPr>
          <a:xfrm>
            <a:off x="3638550" y="32004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00" b="1">
                <a:solidFill>
                  <a:srgbClr val="1F2937"/>
                </a:solidFill>
              </a:defRPr>
            </a:pPr>
            <a:r>
              <a:rPr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愿意或看情况尝试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DCAD57-7DAD-4636-ACF3-6B6108BA227E}"/>
              </a:ext>
            </a:extLst>
          </p:cNvPr>
          <p:cNvSpPr>
            <a:spLocks noGrp="1"/>
          </p:cNvSpPr>
          <p:nvPr/>
        </p:nvSpPr>
        <p:spPr>
          <a:xfrm>
            <a:off x="3638550" y="3562350"/>
            <a:ext cx="1885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用户接受度具有条件性，关键在于降低不确定性。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941C36-D6E5-4FBF-B3B5-1307DE7CD275}"/>
              </a:ext>
            </a:extLst>
          </p:cNvPr>
          <p:cNvSpPr>
            <a:spLocks noGrp="1"/>
          </p:cNvSpPr>
          <p:nvPr/>
        </p:nvSpPr>
        <p:spPr>
          <a:xfrm>
            <a:off x="6019800" y="2495550"/>
            <a:ext cx="2381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B719F3-1135-4522-837F-3AB99FA8D373}"/>
              </a:ext>
            </a:extLst>
          </p:cNvPr>
          <p:cNvSpPr>
            <a:spLocks noGrp="1"/>
          </p:cNvSpPr>
          <p:nvPr/>
        </p:nvSpPr>
        <p:spPr>
          <a:xfrm>
            <a:off x="6267450" y="2705100"/>
            <a:ext cx="1885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22C55E"/>
                </a:solidFill>
              </a:defRPr>
            </a:pPr>
            <a:r>
              <a:rPr sz="2700" b="1">
                <a:solidFill>
                  <a:srgbClr val="22C55E"/>
                </a:solidFill>
              </a:rPr>
              <a:t>75.9%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CD47D4-4347-4B09-AE6C-DAB8ADF2F234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00" b="1">
                <a:solidFill>
                  <a:srgbClr val="1F2937"/>
                </a:solidFill>
              </a:defRPr>
            </a:pPr>
            <a:r>
              <a:rPr sz="14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期待按兴趣匹配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23203A-82FD-458E-8136-041CB20F07FD}"/>
              </a:ext>
            </a:extLst>
          </p:cNvPr>
          <p:cNvSpPr>
            <a:spLocks noGrp="1"/>
          </p:cNvSpPr>
          <p:nvPr/>
        </p:nvSpPr>
        <p:spPr>
          <a:xfrm>
            <a:off x="6267450" y="3562350"/>
            <a:ext cx="205041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匹配不宜只靠随机、年级或专业，应突出兴趣和性格。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3F3A8D-A78C-4FB9-B802-F317E796132D}"/>
              </a:ext>
            </a:extLst>
          </p:cNvPr>
          <p:cNvSpPr>
            <a:spLocks noGrp="1"/>
          </p:cNvSpPr>
          <p:nvPr/>
        </p:nvSpPr>
        <p:spPr>
          <a:xfrm>
            <a:off x="8648700" y="2495550"/>
            <a:ext cx="23812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4F1F67B-AAC1-4839-BB9C-F46A11B550AE}"/>
              </a:ext>
            </a:extLst>
          </p:cNvPr>
          <p:cNvSpPr>
            <a:spLocks noGrp="1"/>
          </p:cNvSpPr>
          <p:nvPr/>
        </p:nvSpPr>
        <p:spPr>
          <a:xfrm>
            <a:off x="8896350" y="2705100"/>
            <a:ext cx="1885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F97316"/>
                </a:solidFill>
              </a:defRPr>
            </a:pPr>
            <a:r>
              <a:rPr sz="2700" b="1">
                <a:solidFill>
                  <a:srgbClr val="F97316"/>
                </a:solidFill>
              </a:rPr>
              <a:t>67.2%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15BBF2-01CB-4D25-9BB2-4443AFEB47B5}"/>
              </a:ext>
            </a:extLst>
          </p:cNvPr>
          <p:cNvSpPr>
            <a:spLocks noGrp="1"/>
          </p:cNvSpPr>
          <p:nvPr/>
        </p:nvSpPr>
        <p:spPr>
          <a:xfrm>
            <a:off x="8896350" y="320040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00" b="1">
                <a:solidFill>
                  <a:srgbClr val="1F2937"/>
                </a:solidFill>
              </a:defRPr>
            </a:pPr>
            <a:r>
              <a:rPr sz="14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顾虑不知道聊什么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289C89-5F39-4600-8A9A-4D07CD77F9C3}"/>
              </a:ext>
            </a:extLst>
          </p:cNvPr>
          <p:cNvSpPr>
            <a:spLocks noGrp="1"/>
          </p:cNvSpPr>
          <p:nvPr/>
        </p:nvSpPr>
        <p:spPr>
          <a:xfrm>
            <a:off x="8896350" y="3562350"/>
            <a:ext cx="1885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破冰话题与前期线上沟通是必要的产品能力</a:t>
            </a: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3AA3C7-FCAF-483B-BEE1-4C93B1F96C0B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3143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09EC55-9ECF-460A-8DF4-58897CBD15D2}"/>
              </a:ext>
            </a:extLst>
          </p:cNvPr>
          <p:cNvSpPr>
            <a:spLocks noGrp="1"/>
          </p:cNvSpPr>
          <p:nvPr/>
        </p:nvSpPr>
        <p:spPr>
          <a:xfrm>
            <a:off x="1219200" y="4914900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A 对应产品作用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CAD916-7419-4BB0-A569-7ABC5A92B836}"/>
              </a:ext>
            </a:extLst>
          </p:cNvPr>
          <p:cNvSpPr>
            <a:spLocks noGrp="1"/>
          </p:cNvSpPr>
          <p:nvPr/>
        </p:nvSpPr>
        <p:spPr>
          <a:xfrm>
            <a:off x="1219200" y="5232400"/>
            <a:ext cx="2609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问卷支持 Ueat 以“共同吃饭”为入口，而不是泛社交或约会导向产品。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1FC3FD-8C6E-418D-9C2E-1C8CBAD0EA78}"/>
              </a:ext>
            </a:extLst>
          </p:cNvPr>
          <p:cNvSpPr>
            <a:spLocks noGrp="1"/>
          </p:cNvSpPr>
          <p:nvPr/>
        </p:nvSpPr>
        <p:spPr>
          <a:xfrm>
            <a:off x="4533900" y="4724400"/>
            <a:ext cx="3143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56045F-F515-4C4A-9B34-CA210F7B113C}"/>
              </a:ext>
            </a:extLst>
          </p:cNvPr>
          <p:cNvSpPr>
            <a:spLocks noGrp="1"/>
          </p:cNvSpPr>
          <p:nvPr/>
        </p:nvSpPr>
        <p:spPr>
          <a:xfrm>
            <a:off x="4800600" y="4914900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B 对应功能设计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5627CD-016A-438B-BACA-9C5776802C9D}"/>
              </a:ext>
            </a:extLst>
          </p:cNvPr>
          <p:cNvSpPr>
            <a:spLocks noGrp="1"/>
          </p:cNvSpPr>
          <p:nvPr/>
        </p:nvSpPr>
        <p:spPr>
          <a:xfrm>
            <a:off x="4794885" y="5219700"/>
            <a:ext cx="288226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兴趣/性格匹配、隐私保护、线上聊天和破冰话题成为优先级最高的一组能力。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BE5EE1-6CC0-4C67-810F-1D848A5B5F78}"/>
              </a:ext>
            </a:extLst>
          </p:cNvPr>
          <p:cNvSpPr>
            <a:spLocks noGrp="1"/>
          </p:cNvSpPr>
          <p:nvPr/>
        </p:nvSpPr>
        <p:spPr>
          <a:xfrm>
            <a:off x="8115300" y="4724400"/>
            <a:ext cx="3143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7CAEB7-840C-4952-99D7-76CC4BAF3A57}"/>
              </a:ext>
            </a:extLst>
          </p:cNvPr>
          <p:cNvSpPr>
            <a:spLocks noGrp="1"/>
          </p:cNvSpPr>
          <p:nvPr/>
        </p:nvSpPr>
        <p:spPr>
          <a:xfrm>
            <a:off x="8382000" y="4914900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C 对应迭代方向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632775-D995-45C7-8BB4-C3850F462249}"/>
              </a:ext>
            </a:extLst>
          </p:cNvPr>
          <p:cNvSpPr>
            <a:spLocks noGrp="1"/>
          </p:cNvSpPr>
          <p:nvPr/>
        </p:nvSpPr>
        <p:spPr>
          <a:xfrm>
            <a:off x="8382000" y="5219700"/>
            <a:ext cx="279971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后续深访重点从“是否需要”转向“怎样更顺手、更安全、更愿意持续使用”。</a:t>
            </a:r>
          </a:p>
        </p:txBody>
      </p:sp>
    </p:spTree>
    <p:extLst>
      <p:ext uri="{BB962C8B-B14F-4D97-AF65-F5344CB8AC3E}">
        <p14:creationId xmlns:p14="http://schemas.microsoft.com/office/powerpoint/2010/main" val="349453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4E03F1E2-B94C-4A48-9131-4BB5EE76DC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9FE7F0C-AAC3-48D8-9862-70DE42F76E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2476500"/>
          </a:xfrm>
          <a:prstGeom prst="ellipse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42E9611-025F-40CC-8594-DFE8D2130CE2}"/>
              </a:ext>
            </a:extLst>
          </p:cNvPr>
          <p:cNvSpPr>
            <a:spLocks noGrp="1"/>
          </p:cNvSpPr>
          <p:nvPr/>
        </p:nvSpPr>
        <p:spPr>
          <a:xfrm>
            <a:off x="9144000" y="4762500"/>
            <a:ext cx="3048000" cy="2095500"/>
          </a:xfrm>
          <a:prstGeom prst="ellipse">
            <a:avLst/>
          </a:prstGeom>
          <a:solidFill>
            <a:srgbClr val="FFED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D69B99-8999-418C-9270-21D61B75C8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017BC9-AA19-4952-8A0A-9FDD9835FC8A}"/>
              </a:ext>
            </a:extLst>
          </p:cNvPr>
          <p:cNvSpPr>
            <a:spLocks noGrp="1"/>
          </p:cNvSpPr>
          <p:nvPr/>
        </p:nvSpPr>
        <p:spPr>
          <a:xfrm>
            <a:off x="762000" y="635032"/>
            <a:ext cx="1066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3200" b="1">
                <a:solidFill>
                  <a:srgbClr val="1F2937"/>
                </a:solidFill>
              </a:defRPr>
            </a:pPr>
            <a:r>
              <a:rPr sz="3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第二到三次迭代深访反馈集中在体验细节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BA3041-14F2-4D8C-9ECE-860C00FF64E7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1044511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4B5563"/>
                </a:solidFill>
              </a:defRPr>
            </a:pPr>
            <a:r>
              <a:rPr sz="1400" b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我们邀请有约饭或社交需求的同学进行 15-30 分钟讨论。整体评价积极，但也暴露了邀请确认、信息层级、桌宠操作等细节问题。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232E7BE-32E5-4135-900A-2C5E8C9319E2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361950" cy="36195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B1F36F8-AB17-4B8D-82FE-989336C33972}"/>
              </a:ext>
            </a:extLst>
          </p:cNvPr>
          <p:cNvSpPr>
            <a:spLocks noGrp="1"/>
          </p:cNvSpPr>
          <p:nvPr/>
        </p:nvSpPr>
        <p:spPr>
          <a:xfrm>
            <a:off x="771525" y="28765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E8F8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E953B73-EF25-42A8-9DC4-CA0325FCF919}"/>
              </a:ext>
            </a:extLst>
          </p:cNvPr>
          <p:cNvSpPr>
            <a:spLocks noGrp="1"/>
          </p:cNvSpPr>
          <p:nvPr/>
        </p:nvSpPr>
        <p:spPr>
          <a:xfrm>
            <a:off x="1409700" y="24574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997FFF-5676-4009-B596-0A59113C6460}"/>
              </a:ext>
            </a:extLst>
          </p:cNvPr>
          <p:cNvSpPr>
            <a:spLocks noGrp="1"/>
          </p:cNvSpPr>
          <p:nvPr/>
        </p:nvSpPr>
        <p:spPr>
          <a:xfrm>
            <a:off x="1333500" y="27241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1E7BA4-EA65-42B6-A527-504DDD271CC9}"/>
              </a:ext>
            </a:extLst>
          </p:cNvPr>
          <p:cNvSpPr>
            <a:spLocks noGrp="1"/>
          </p:cNvSpPr>
          <p:nvPr/>
        </p:nvSpPr>
        <p:spPr>
          <a:xfrm>
            <a:off x="1581150" y="25908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lnSpc>
                <a:spcPct val="117000"/>
              </a:lnSpc>
              <a:buClrTx/>
              <a:buSzTx/>
              <a:buFontTx/>
              <a:buNone/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全屏卡片更喜欢，但“想一起吃”需要二次确认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1E5CCDE-9DEA-4C0B-B55E-A14CE6DC0408}"/>
              </a:ext>
            </a:extLst>
          </p:cNvPr>
          <p:cNvSpPr>
            <a:spLocks noGrp="1"/>
          </p:cNvSpPr>
          <p:nvPr/>
        </p:nvSpPr>
        <p:spPr>
          <a:xfrm>
            <a:off x="4000500" y="2514600"/>
            <a:ext cx="361950" cy="361950"/>
          </a:xfrm>
          <a:prstGeom prst="ellipse">
            <a:avLst/>
          </a:prstGeom>
          <a:solidFill>
            <a:srgbClr val="4796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DDC97F3-B138-4138-8B90-4BCE17BC8933}"/>
              </a:ext>
            </a:extLst>
          </p:cNvPr>
          <p:cNvSpPr>
            <a:spLocks noGrp="1"/>
          </p:cNvSpPr>
          <p:nvPr/>
        </p:nvSpPr>
        <p:spPr>
          <a:xfrm>
            <a:off x="3952875" y="28765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E8F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706DA5E-1935-4A39-BC65-E79CA6099D05}"/>
              </a:ext>
            </a:extLst>
          </p:cNvPr>
          <p:cNvSpPr>
            <a:spLocks noGrp="1"/>
          </p:cNvSpPr>
          <p:nvPr/>
        </p:nvSpPr>
        <p:spPr>
          <a:xfrm>
            <a:off x="4591050" y="24574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73473B-A010-420F-8CD4-3FD8F4496624}"/>
              </a:ext>
            </a:extLst>
          </p:cNvPr>
          <p:cNvSpPr>
            <a:spLocks noGrp="1"/>
          </p:cNvSpPr>
          <p:nvPr/>
        </p:nvSpPr>
        <p:spPr>
          <a:xfrm>
            <a:off x="4514850" y="27241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631489-20FA-4ABA-8117-6A1B23443336}"/>
              </a:ext>
            </a:extLst>
          </p:cNvPr>
          <p:cNvSpPr>
            <a:spLocks noGrp="1"/>
          </p:cNvSpPr>
          <p:nvPr/>
        </p:nvSpPr>
        <p:spPr>
          <a:xfrm>
            <a:off x="4762500" y="25908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卡片上时间、地点和匹配理由要更突出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314597C-606A-4947-ADF2-BC169F464330}"/>
              </a:ext>
            </a:extLst>
          </p:cNvPr>
          <p:cNvSpPr>
            <a:spLocks noGrp="1"/>
          </p:cNvSpPr>
          <p:nvPr/>
        </p:nvSpPr>
        <p:spPr>
          <a:xfrm>
            <a:off x="7181850" y="2514600"/>
            <a:ext cx="361950" cy="36195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037BC44-0017-409E-87C0-EF9287A209B5}"/>
              </a:ext>
            </a:extLst>
          </p:cNvPr>
          <p:cNvSpPr>
            <a:spLocks noGrp="1"/>
          </p:cNvSpPr>
          <p:nvPr/>
        </p:nvSpPr>
        <p:spPr>
          <a:xfrm>
            <a:off x="7134225" y="28765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E8F8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D348191-93E3-4674-AC58-660CD8542CA6}"/>
              </a:ext>
            </a:extLst>
          </p:cNvPr>
          <p:cNvSpPr>
            <a:spLocks noGrp="1"/>
          </p:cNvSpPr>
          <p:nvPr/>
        </p:nvSpPr>
        <p:spPr>
          <a:xfrm>
            <a:off x="7772400" y="24574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DCAAD3-6A3A-4DC7-843B-5BD0B5D834A5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C81C39-67EA-4E47-8A77-C24F075420BD}"/>
              </a:ext>
            </a:extLst>
          </p:cNvPr>
          <p:cNvSpPr>
            <a:spLocks noGrp="1"/>
          </p:cNvSpPr>
          <p:nvPr/>
        </p:nvSpPr>
        <p:spPr>
          <a:xfrm>
            <a:off x="7943850" y="25908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破冰话题目前就很好，能降低开口压力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EC2D131-E719-4052-ADD6-1695EE4B1A55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361950" cy="36195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08B6609-318A-47A2-9A36-0ABE8DD93C89}"/>
              </a:ext>
            </a:extLst>
          </p:cNvPr>
          <p:cNvSpPr>
            <a:spLocks noGrp="1"/>
          </p:cNvSpPr>
          <p:nvPr/>
        </p:nvSpPr>
        <p:spPr>
          <a:xfrm>
            <a:off x="771525" y="39814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E8F8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331177F-384D-4BE9-BEC6-7AEA76D60A24}"/>
              </a:ext>
            </a:extLst>
          </p:cNvPr>
          <p:cNvSpPr>
            <a:spLocks noGrp="1"/>
          </p:cNvSpPr>
          <p:nvPr/>
        </p:nvSpPr>
        <p:spPr>
          <a:xfrm>
            <a:off x="1409700" y="35623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E1D193-237A-498F-BB4B-4265F8419A86}"/>
              </a:ext>
            </a:extLst>
          </p:cNvPr>
          <p:cNvSpPr>
            <a:spLocks noGrp="1"/>
          </p:cNvSpPr>
          <p:nvPr/>
        </p:nvSpPr>
        <p:spPr>
          <a:xfrm>
            <a:off x="1333500" y="38290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3E2038-12FA-40F4-B1E5-EFF80E18693C}"/>
              </a:ext>
            </a:extLst>
          </p:cNvPr>
          <p:cNvSpPr>
            <a:spLocks noGrp="1"/>
          </p:cNvSpPr>
          <p:nvPr/>
        </p:nvSpPr>
        <p:spPr>
          <a:xfrm>
            <a:off x="1581150" y="36957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桌宠很可爱，会想用；默认关闭作为附加功能可以接受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D61CD6C-CC0E-4E01-86E6-FF865DF20A0D}"/>
              </a:ext>
            </a:extLst>
          </p:cNvPr>
          <p:cNvSpPr>
            <a:spLocks noGrp="1"/>
          </p:cNvSpPr>
          <p:nvPr/>
        </p:nvSpPr>
        <p:spPr>
          <a:xfrm>
            <a:off x="4000500" y="3619500"/>
            <a:ext cx="361950" cy="361950"/>
          </a:xfrm>
          <a:prstGeom prst="ellipse">
            <a:avLst/>
          </a:prstGeom>
          <a:solidFill>
            <a:srgbClr val="4796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C723C658-D50D-4AE7-BD46-4058FB94946B}"/>
              </a:ext>
            </a:extLst>
          </p:cNvPr>
          <p:cNvSpPr>
            <a:spLocks noGrp="1"/>
          </p:cNvSpPr>
          <p:nvPr/>
        </p:nvSpPr>
        <p:spPr>
          <a:xfrm>
            <a:off x="3952875" y="39814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E8F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8DB54E0-407E-4231-8D09-7463988EBCBE}"/>
              </a:ext>
            </a:extLst>
          </p:cNvPr>
          <p:cNvSpPr>
            <a:spLocks noGrp="1"/>
          </p:cNvSpPr>
          <p:nvPr/>
        </p:nvSpPr>
        <p:spPr>
          <a:xfrm>
            <a:off x="4591050" y="35623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42B1BCE-E406-48DD-A390-F240DE678F19}"/>
              </a:ext>
            </a:extLst>
          </p:cNvPr>
          <p:cNvSpPr>
            <a:spLocks noGrp="1"/>
          </p:cNvSpPr>
          <p:nvPr/>
        </p:nvSpPr>
        <p:spPr>
          <a:xfrm>
            <a:off x="4514850" y="38290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6241816-C3DD-486B-9799-7842CD397DA7}"/>
              </a:ext>
            </a:extLst>
          </p:cNvPr>
          <p:cNvSpPr>
            <a:spLocks noGrp="1"/>
          </p:cNvSpPr>
          <p:nvPr/>
        </p:nvSpPr>
        <p:spPr>
          <a:xfrm>
            <a:off x="4762500" y="36957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社区需要白边，视觉层次会更清楚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73582F6-16C4-4580-B95C-04F3CD28FAE5}"/>
              </a:ext>
            </a:extLst>
          </p:cNvPr>
          <p:cNvSpPr>
            <a:spLocks noGrp="1"/>
          </p:cNvSpPr>
          <p:nvPr/>
        </p:nvSpPr>
        <p:spPr>
          <a:xfrm>
            <a:off x="7181850" y="3619500"/>
            <a:ext cx="361950" cy="36195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C0FE89D0-3FBA-4664-A52A-B47A10EF8395}"/>
              </a:ext>
            </a:extLst>
          </p:cNvPr>
          <p:cNvSpPr>
            <a:spLocks noGrp="1"/>
          </p:cNvSpPr>
          <p:nvPr/>
        </p:nvSpPr>
        <p:spPr>
          <a:xfrm>
            <a:off x="7134225" y="39814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E8F8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BA3CC5FF-A4C9-4DB1-B913-790F34F8341E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E68F16-3895-4845-92F9-3FA6B823283A}"/>
              </a:ext>
            </a:extLst>
          </p:cNvPr>
          <p:cNvSpPr>
            <a:spLocks noGrp="1"/>
          </p:cNvSpPr>
          <p:nvPr/>
        </p:nvSpPr>
        <p:spPr>
          <a:xfrm>
            <a:off x="7696200" y="38290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EFAFCC0-B7A3-44D7-B978-CFD2D4A4A6C6}"/>
              </a:ext>
            </a:extLst>
          </p:cNvPr>
          <p:cNvSpPr>
            <a:spLocks noGrp="1"/>
          </p:cNvSpPr>
          <p:nvPr/>
        </p:nvSpPr>
        <p:spPr>
          <a:xfrm>
            <a:off x="7943850" y="36957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创建群聊很重要，约饭后可能需要多人协调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DA398348-4578-4459-AC1D-F1069EF4AA41}"/>
              </a:ext>
            </a:extLst>
          </p:cNvPr>
          <p:cNvSpPr>
            <a:spLocks noGrp="1"/>
          </p:cNvSpPr>
          <p:nvPr/>
        </p:nvSpPr>
        <p:spPr>
          <a:xfrm>
            <a:off x="819150" y="4724400"/>
            <a:ext cx="361950" cy="36195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A46A21F-85A3-44EC-92A9-DE5BAAE03EE8}"/>
              </a:ext>
            </a:extLst>
          </p:cNvPr>
          <p:cNvSpPr>
            <a:spLocks noGrp="1"/>
          </p:cNvSpPr>
          <p:nvPr/>
        </p:nvSpPr>
        <p:spPr>
          <a:xfrm>
            <a:off x="771525" y="50863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FFE9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2401BA0A-8FB1-41F3-AB06-EADE3CB490AE}"/>
              </a:ext>
            </a:extLst>
          </p:cNvPr>
          <p:cNvSpPr>
            <a:spLocks noGrp="1"/>
          </p:cNvSpPr>
          <p:nvPr/>
        </p:nvSpPr>
        <p:spPr>
          <a:xfrm>
            <a:off x="1409700" y="46672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89FDBE9-9B63-467E-91D2-AB61A3637B60}"/>
              </a:ext>
            </a:extLst>
          </p:cNvPr>
          <p:cNvSpPr>
            <a:spLocks noGrp="1"/>
          </p:cNvSpPr>
          <p:nvPr/>
        </p:nvSpPr>
        <p:spPr>
          <a:xfrm>
            <a:off x="1333500" y="49339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DE6E90A-7F4E-4EE1-ADA6-1F2F4A8EC340}"/>
              </a:ext>
            </a:extLst>
          </p:cNvPr>
          <p:cNvSpPr>
            <a:spLocks noGrp="1"/>
          </p:cNvSpPr>
          <p:nvPr/>
        </p:nvSpPr>
        <p:spPr>
          <a:xfrm>
            <a:off x="1581150" y="48006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新手导引需要补齐，不然第一次使用不够确定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1DCA0D45-5A02-4609-AD5B-8FC03976272F}"/>
              </a:ext>
            </a:extLst>
          </p:cNvPr>
          <p:cNvSpPr>
            <a:spLocks noGrp="1"/>
          </p:cNvSpPr>
          <p:nvPr/>
        </p:nvSpPr>
        <p:spPr>
          <a:xfrm>
            <a:off x="4000500" y="4724400"/>
            <a:ext cx="361950" cy="36195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C27A5F33-08F7-4390-AF9D-87B21FEC670F}"/>
              </a:ext>
            </a:extLst>
          </p:cNvPr>
          <p:cNvSpPr>
            <a:spLocks noGrp="1"/>
          </p:cNvSpPr>
          <p:nvPr/>
        </p:nvSpPr>
        <p:spPr>
          <a:xfrm>
            <a:off x="3952875" y="50863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FFE9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619C87A2-CD3E-4203-B5DE-60C48EB4D124}"/>
              </a:ext>
            </a:extLst>
          </p:cNvPr>
          <p:cNvSpPr>
            <a:spLocks noGrp="1"/>
          </p:cNvSpPr>
          <p:nvPr/>
        </p:nvSpPr>
        <p:spPr>
          <a:xfrm>
            <a:off x="4591050" y="46672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3537A30-1D66-4AD3-915A-14AFF51EC7E9}"/>
              </a:ext>
            </a:extLst>
          </p:cNvPr>
          <p:cNvSpPr>
            <a:spLocks noGrp="1"/>
          </p:cNvSpPr>
          <p:nvPr/>
        </p:nvSpPr>
        <p:spPr>
          <a:xfrm>
            <a:off x="4514850" y="49339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5FA0228-EDDC-4711-A7EA-18ACBA7F54B3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衣柜操作不顺畅，桌宠可操作范围也需要更明确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62BEAAA4-071E-4E06-B509-5318C7581F69}"/>
              </a:ext>
            </a:extLst>
          </p:cNvPr>
          <p:cNvSpPr>
            <a:spLocks noGrp="1"/>
          </p:cNvSpPr>
          <p:nvPr/>
        </p:nvSpPr>
        <p:spPr>
          <a:xfrm>
            <a:off x="7181850" y="4724400"/>
            <a:ext cx="361950" cy="361950"/>
          </a:xfrm>
          <a:prstGeom prst="ellipse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4A983B41-EE47-404F-B7CB-EF54FC30B1AB}"/>
              </a:ext>
            </a:extLst>
          </p:cNvPr>
          <p:cNvSpPr>
            <a:spLocks noGrp="1"/>
          </p:cNvSpPr>
          <p:nvPr/>
        </p:nvSpPr>
        <p:spPr>
          <a:xfrm>
            <a:off x="7134225" y="5086350"/>
            <a:ext cx="457200" cy="419100"/>
          </a:xfrm>
          <a:prstGeom prst="roundRect">
            <a:avLst>
              <a:gd name="adj" fmla="val 18182"/>
            </a:avLst>
          </a:prstGeom>
          <a:solidFill>
            <a:srgbClr val="FFE9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760CDD00-C78F-467B-87CE-86702309EA1C}"/>
              </a:ext>
            </a:extLst>
          </p:cNvPr>
          <p:cNvSpPr>
            <a:spLocks noGrp="1"/>
          </p:cNvSpPr>
          <p:nvPr/>
        </p:nvSpPr>
        <p:spPr>
          <a:xfrm>
            <a:off x="7772400" y="4667250"/>
            <a:ext cx="2286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77C8D8F-E16C-488D-B1D6-9235674A2CBB}"/>
              </a:ext>
            </a:extLst>
          </p:cNvPr>
          <p:cNvSpPr>
            <a:spLocks noGrp="1"/>
          </p:cNvSpPr>
          <p:nvPr/>
        </p:nvSpPr>
        <p:spPr>
          <a:xfrm>
            <a:off x="7696200" y="4933950"/>
            <a:ext cx="152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EA7BA99-DD5F-4B5D-B5FC-96600E332F1E}"/>
              </a:ext>
            </a:extLst>
          </p:cNvPr>
          <p:cNvSpPr>
            <a:spLocks noGrp="1"/>
          </p:cNvSpPr>
          <p:nvPr/>
        </p:nvSpPr>
        <p:spPr>
          <a:xfrm>
            <a:off x="7943850" y="4800600"/>
            <a:ext cx="1943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无法私信、搜索后点约饭没反应，这些 bug 要优先修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35C90DB-61D8-4696-8271-7FEE8C709542}"/>
              </a:ext>
            </a:extLst>
          </p:cNvPr>
          <p:cNvSpPr>
            <a:spLocks noGrp="1"/>
          </p:cNvSpPr>
          <p:nvPr/>
        </p:nvSpPr>
        <p:spPr>
          <a:xfrm>
            <a:off x="800100" y="6000750"/>
            <a:ext cx="10572750" cy="400050"/>
          </a:xfrm>
          <a:prstGeom prst="rect">
            <a:avLst/>
          </a:prstGeom>
          <a:solidFill>
            <a:srgbClr val="FFF7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0D44F10-98FA-40B9-B863-242C1AC72509}"/>
              </a:ext>
            </a:extLst>
          </p:cNvPr>
          <p:cNvSpPr>
            <a:spLocks noGrp="1"/>
          </p:cNvSpPr>
          <p:nvPr/>
        </p:nvSpPr>
        <p:spPr>
          <a:xfrm>
            <a:off x="1047750" y="6042025"/>
            <a:ext cx="1009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A45518"/>
                </a:solidFill>
              </a:defRPr>
            </a:pPr>
            <a:r>
              <a:rPr sz="1400">
                <a:solidFill>
                  <a:schemeClr val="accent2">
                    <a:lumMod val="75000"/>
                  </a:schemeClr>
                </a:solidFill>
                <a:latin typeface="Noto Sans SC"/>
                <a:ea typeface="Noto Sans SC"/>
                <a:cs typeface="Noto Sans SC"/>
              </a:rPr>
              <a:t>反馈结论：用户喜欢 UI、桌宠和破冰方向，但更在意关键动作是否明确、可控、少误触。</a:t>
            </a:r>
          </a:p>
        </p:txBody>
      </p:sp>
    </p:spTree>
    <p:extLst>
      <p:ext uri="{BB962C8B-B14F-4D97-AF65-F5344CB8AC3E}">
        <p14:creationId xmlns:p14="http://schemas.microsoft.com/office/powerpoint/2010/main" val="661076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8044CE8-6D07-4226-B058-507D06DAE1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37B206D-2A01-4E24-8FAE-EC2F7D6927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2476500"/>
          </a:xfrm>
          <a:prstGeom prst="ellipse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E507D6F-95FF-40FF-A3E7-B1594AF08D8B}"/>
              </a:ext>
            </a:extLst>
          </p:cNvPr>
          <p:cNvSpPr>
            <a:spLocks noGrp="1"/>
          </p:cNvSpPr>
          <p:nvPr/>
        </p:nvSpPr>
        <p:spPr>
          <a:xfrm>
            <a:off x="9144000" y="4762500"/>
            <a:ext cx="3048000" cy="2095500"/>
          </a:xfrm>
          <a:prstGeom prst="ellipse">
            <a:avLst/>
          </a:prstGeom>
          <a:solidFill>
            <a:srgbClr val="FFED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ED23BD-212B-4254-88AB-EAE7B85C6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84CA04-1F01-46D6-B3DC-FBF54AD24500}"/>
              </a:ext>
            </a:extLst>
          </p:cNvPr>
          <p:cNvSpPr>
            <a:spLocks noGrp="1"/>
          </p:cNvSpPr>
          <p:nvPr/>
        </p:nvSpPr>
        <p:spPr>
          <a:xfrm>
            <a:off x="762000" y="635032"/>
            <a:ext cx="1066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3200" b="1">
                <a:solidFill>
                  <a:srgbClr val="1F2937"/>
                </a:solidFill>
              </a:defRPr>
            </a:pPr>
            <a:r>
              <a:rPr sz="3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市场调研把产品特色收敛为四个设计原则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2CAD76-B590-44C7-B738-9333BC2B51B1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1009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4B5563"/>
                </a:solidFill>
              </a:defRPr>
            </a:pPr>
            <a:r>
              <a:rPr sz="1400" b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三轮反馈共同说明：Ueat 的价值不是功能越多越好，而是在可信边界内，把约饭这件小事做得自然、可控、愿意继续用。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10877A-69AF-4AAE-8B22-4E09384B6AB7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572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18ACE4-A551-4DC8-B815-BDBC111FA72F}"/>
              </a:ext>
            </a:extLst>
          </p:cNvPr>
          <p:cNvSpPr>
            <a:spLocks noGrp="1"/>
          </p:cNvSpPr>
          <p:nvPr/>
        </p:nvSpPr>
        <p:spPr>
          <a:xfrm>
            <a:off x="1219200" y="2762250"/>
            <a:ext cx="4038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01 低压力入口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A489F3-53CF-4C0E-8641-8D0C33102D29}"/>
              </a:ext>
            </a:extLst>
          </p:cNvPr>
          <p:cNvSpPr>
            <a:spLocks noGrp="1"/>
          </p:cNvSpPr>
          <p:nvPr/>
        </p:nvSpPr>
        <p:spPr>
          <a:xfrm>
            <a:off x="1219200" y="3181350"/>
            <a:ext cx="4038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以吃饭代替泛社交，降低第一次线下互动的心理门槛。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A5441E-0D0E-4093-A99C-592EA8D8FF05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72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CD8C9A-7F8F-4205-A32A-DA9FCB41B635}"/>
              </a:ext>
            </a:extLst>
          </p:cNvPr>
          <p:cNvSpPr>
            <a:spLocks noGrp="1"/>
          </p:cNvSpPr>
          <p:nvPr/>
        </p:nvSpPr>
        <p:spPr>
          <a:xfrm>
            <a:off x="6934200" y="2762250"/>
            <a:ext cx="4038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02 匹配有解释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AFFD72-9D4F-4F3E-A2B5-B89AAD2B019B}"/>
              </a:ext>
            </a:extLst>
          </p:cNvPr>
          <p:cNvSpPr>
            <a:spLocks noGrp="1"/>
          </p:cNvSpPr>
          <p:nvPr/>
        </p:nvSpPr>
        <p:spPr>
          <a:xfrm>
            <a:off x="6934200" y="3181350"/>
            <a:ext cx="4038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563"/>
                </a:solidFill>
              </a:defRPr>
            </a:pP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时间、地点、兴趣和匹配理由必须被看见，帮助用户快速判断。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D8A96A-0023-4CB6-A54E-922E9061575A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4572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BF6E32-D8CB-4A81-A504-573EA838FEEE}"/>
              </a:ext>
            </a:extLst>
          </p:cNvPr>
          <p:cNvSpPr>
            <a:spLocks noGrp="1"/>
          </p:cNvSpPr>
          <p:nvPr/>
        </p:nvSpPr>
        <p:spPr>
          <a:xfrm>
            <a:off x="1219200" y="4286250"/>
            <a:ext cx="4038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03 关键动作可控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00932E-DE66-4D34-BEC1-4B4302E2A4BA}"/>
              </a:ext>
            </a:extLst>
          </p:cNvPr>
          <p:cNvSpPr>
            <a:spLocks noGrp="1"/>
          </p:cNvSpPr>
          <p:nvPr/>
        </p:nvSpPr>
        <p:spPr>
          <a:xfrm>
            <a:off x="1219200" y="4705350"/>
            <a:ext cx="4038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563"/>
                </a:solidFill>
              </a:defRPr>
            </a:pP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邀请、私信、群聊、搜索等主链路要明确反馈，避免误触和无响应。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B55B08-B762-4896-B8CF-8453D040F160}"/>
              </a:ext>
            </a:extLst>
          </p:cNvPr>
          <p:cNvSpPr>
            <a:spLocks noGrp="1"/>
          </p:cNvSpPr>
          <p:nvPr/>
        </p:nvSpPr>
        <p:spPr>
          <a:xfrm>
            <a:off x="6667500" y="4095750"/>
            <a:ext cx="4572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076658-D921-45FA-98B8-E7BED7F86D67}"/>
              </a:ext>
            </a:extLst>
          </p:cNvPr>
          <p:cNvSpPr>
            <a:spLocks noGrp="1"/>
          </p:cNvSpPr>
          <p:nvPr/>
        </p:nvSpPr>
        <p:spPr>
          <a:xfrm>
            <a:off x="6934200" y="4286250"/>
            <a:ext cx="4038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04 增强功能克制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E4C2ED-845C-4571-B787-42F0D7BC125E}"/>
              </a:ext>
            </a:extLst>
          </p:cNvPr>
          <p:cNvSpPr>
            <a:spLocks noGrp="1"/>
          </p:cNvSpPr>
          <p:nvPr/>
        </p:nvSpPr>
        <p:spPr>
          <a:xfrm>
            <a:off x="6934200" y="4705350"/>
            <a:ext cx="4038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563"/>
                </a:solidFill>
              </a:defRPr>
            </a:pPr>
            <a:r>
              <a:rPr sz="1300" b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社区、桌宠、衣柜等提升亲和力，但默认不打扰核心约饭流程。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04004B-5B4A-43CF-88C9-0B458AC2CFAF}"/>
              </a:ext>
            </a:extLst>
          </p:cNvPr>
          <p:cNvSpPr>
            <a:spLocks noGrp="1"/>
          </p:cNvSpPr>
          <p:nvPr/>
        </p:nvSpPr>
        <p:spPr>
          <a:xfrm>
            <a:off x="1143000" y="590550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0CAC47"/>
                </a:solidFill>
              </a:defRPr>
            </a:pPr>
            <a:r>
              <a:rPr sz="140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最终形成的产品特色：约饭卡匹配 + AI 破冰 + 站内沟通 + 安全隐私 + 可选陪伴体验。</a:t>
            </a:r>
          </a:p>
        </p:txBody>
      </p:sp>
    </p:spTree>
    <p:extLst>
      <p:ext uri="{BB962C8B-B14F-4D97-AF65-F5344CB8AC3E}">
        <p14:creationId xmlns:p14="http://schemas.microsoft.com/office/powerpoint/2010/main" val="402150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82EB6B7-A77E-48D1-8DE2-8E2E724997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286BB50-6637-4626-94A2-D1CE4F9E1C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50000" cy="63500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6A4C247-50CD-4D5A-80FD-441E3CF2361C}"/>
              </a:ext>
            </a:extLst>
          </p:cNvPr>
          <p:cNvSpPr>
            <a:spLocks noGrp="1"/>
          </p:cNvSpPr>
          <p:nvPr/>
        </p:nvSpPr>
        <p:spPr>
          <a:xfrm>
            <a:off x="7112000" y="1778000"/>
            <a:ext cx="5080000" cy="5080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F7981F4-138D-4EEF-87BF-E42DC39E8A6D}"/>
              </a:ext>
            </a:extLst>
          </p:cNvPr>
          <p:cNvSpPr>
            <a:spLocks noGrp="1"/>
          </p:cNvSpPr>
          <p:nvPr/>
        </p:nvSpPr>
        <p:spPr>
          <a:xfrm>
            <a:off x="0" y="2159000"/>
            <a:ext cx="12192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28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PART 03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4FD8ABE-3215-4A9C-9DC6-CB2FDA8ABF12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40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软件架构与关键技术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19CD6E7-2C05-4FDA-A1C3-200DB071A253}"/>
              </a:ext>
            </a:extLst>
          </p:cNvPr>
          <p:cNvSpPr>
            <a:spLocks noGrp="1"/>
          </p:cNvSpPr>
          <p:nvPr/>
        </p:nvSpPr>
        <p:spPr>
          <a:xfrm>
            <a:off x="1270000" y="4699000"/>
            <a:ext cx="965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6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深入解析支撑平台高效运行的底层架构与核心算法，</a:t>
            </a:r>
            <a:br/>
            <a:r>
              <a:rPr sz="16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展现项目在技术层面的突破与行业前瞻性的创新设计。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0C475D0-336E-4703-9253-947D11BA5D8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2C55E">
                  <a:alpha val="0"/>
                </a:srgbClr>
              </a:gs>
              <a:gs pos="50000">
                <a:srgbClr val="22C55E">
                  <a:alpha val="80000"/>
                </a:srgbClr>
              </a:gs>
              <a:gs pos="100000">
                <a:srgbClr val="22C55E">
                  <a:alpha val="0"/>
                </a:srgbClr>
              </a:gs>
            </a:gsLst>
            <a:lin ang="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1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A259DD3-F944-4BC3-AA9B-5E4F997CD8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8CD8DDF-AD37-46F4-AC67-CC3841488E3C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整体技术架构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EEF1C3E-44B4-4D02-A588-B9C55E2AB396}"/>
              </a:ext>
            </a:extLst>
          </p:cNvPr>
          <p:cNvSpPr>
            <a:spLocks noGrp="1"/>
          </p:cNvSpPr>
          <p:nvPr/>
        </p:nvSpPr>
        <p:spPr>
          <a:xfrm>
            <a:off x="7620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6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36800"/>
            <a:ext cx="457200" cy="4572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DCC03EBE-CF26-4019-BF57-0BF42D1F634E}"/>
              </a:ext>
            </a:extLst>
          </p:cNvPr>
          <p:cNvSpPr>
            <a:spLocks noGrp="1"/>
          </p:cNvSpPr>
          <p:nvPr/>
        </p:nvSpPr>
        <p:spPr>
          <a:xfrm>
            <a:off x="1600200" y="2336800"/>
            <a:ext cx="2413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01 前端与多端层</a:t>
            </a:r>
          </a:p>
        </p:txBody>
      </p:sp>
      <p:cxnSp>
        <p:nvCxnSpPr>
          <p:cNvPr id="67" name="Connector 7"/>
          <p:cNvCxnSpPr/>
          <p:nvPr/>
        </p:nvCxnSpPr>
        <p:spPr>
          <a:xfrm rot="-15211">
            <a:off x="1016014" y="2978150"/>
            <a:ext cx="2870200" cy="12700"/>
          </a:xfrm>
          <a:prstGeom prst="straightConnector1">
            <a:avLst/>
          </a:prstGeom>
          <a:ln w="12700" cap="flat">
            <a:solidFill>
              <a:srgbClr val="22C55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>
              <a:ext uri="{FF2B5EF4-FFF2-40B4-BE49-F238E27FC236}">
                <a16:creationId xmlns:a16="http://schemas.microsoft.com/office/drawing/2014/main" id="{FE2E93A0-D457-4B52-B743-A615F6630F97}"/>
              </a:ext>
            </a:extLst>
          </p:cNvPr>
          <p:cNvSpPr>
            <a:spLocks noGrp="1"/>
          </p:cNvSpPr>
          <p:nvPr/>
        </p:nvSpPr>
        <p:spPr>
          <a:xfrm>
            <a:off x="1016000" y="3175000"/>
            <a:ext cx="2870200" cy="184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React + Vite + TypeScript 构建 Web 单页应用，Capacitor 复用前端产物封装 Android APK；页面负责展示，状态与接口下沉到 hooks/services。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0523935-D122-4D51-8F6B-FB4D2D1CA462}"/>
              </a:ext>
            </a:extLst>
          </p:cNvPr>
          <p:cNvSpPr>
            <a:spLocks noGrp="1"/>
          </p:cNvSpPr>
          <p:nvPr/>
        </p:nvSpPr>
        <p:spPr>
          <a:xfrm>
            <a:off x="44069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70" name="Pictur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336800"/>
            <a:ext cx="457200" cy="457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7D8C3213-F45E-44B8-9180-26AE03B8DEDA}"/>
              </a:ext>
            </a:extLst>
          </p:cNvPr>
          <p:cNvSpPr>
            <a:spLocks noGrp="1"/>
          </p:cNvSpPr>
          <p:nvPr/>
        </p:nvSpPr>
        <p:spPr>
          <a:xfrm>
            <a:off x="5245100" y="2336800"/>
            <a:ext cx="2413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02 后端业务接口层</a:t>
            </a:r>
          </a:p>
        </p:txBody>
      </p:sp>
      <p:cxnSp>
        <p:nvCxnSpPr>
          <p:cNvPr id="72" name="Connector 12"/>
          <p:cNvCxnSpPr/>
          <p:nvPr/>
        </p:nvCxnSpPr>
        <p:spPr>
          <a:xfrm rot="-15211">
            <a:off x="4660914" y="2978150"/>
            <a:ext cx="2870200" cy="12700"/>
          </a:xfrm>
          <a:prstGeom prst="straightConnector1">
            <a:avLst/>
          </a:prstGeom>
          <a:ln w="12700" cap="flat">
            <a:solidFill>
              <a:srgbClr val="22C55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>
            <a:extLst>
              <a:ext uri="{FF2B5EF4-FFF2-40B4-BE49-F238E27FC236}">
                <a16:creationId xmlns:a16="http://schemas.microsoft.com/office/drawing/2014/main" id="{2D3FEBE6-1AF3-4B26-96A9-73EC7BB6F8D4}"/>
              </a:ext>
            </a:extLst>
          </p:cNvPr>
          <p:cNvSpPr>
            <a:spLocks noGrp="1"/>
          </p:cNvSpPr>
          <p:nvPr/>
        </p:nvSpPr>
        <p:spPr>
          <a:xfrm>
            <a:off x="4660900" y="3175000"/>
            <a:ext cx="2870200" cy="184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Express 按 auth、users、meal-cards、posts、chat 等 Router 拆分业务入口，统一 JSON 响应和鉴权边界，降低模块间耦合。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39532AA-1CFC-4966-9BD5-711EE9A91EA3}"/>
              </a:ext>
            </a:extLst>
          </p:cNvPr>
          <p:cNvSpPr>
            <a:spLocks noGrp="1"/>
          </p:cNvSpPr>
          <p:nvPr/>
        </p:nvSpPr>
        <p:spPr>
          <a:xfrm>
            <a:off x="80518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75" name="Picture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2336800"/>
            <a:ext cx="457200" cy="457200"/>
          </a:xfrm>
          <a:prstGeom prst="rect">
            <a:avLst/>
          </a:prstGeom>
        </p:spPr>
      </p:pic>
      <p:sp>
        <p:nvSpPr>
          <p:cNvPr id="16" name="AutoShape 16">
            <a:extLst>
              <a:ext uri="{FF2B5EF4-FFF2-40B4-BE49-F238E27FC236}">
                <a16:creationId xmlns:a16="http://schemas.microsoft.com/office/drawing/2014/main" id="{72155276-5519-4011-9082-778BE8C43376}"/>
              </a:ext>
            </a:extLst>
          </p:cNvPr>
          <p:cNvSpPr>
            <a:spLocks noGrp="1"/>
          </p:cNvSpPr>
          <p:nvPr/>
        </p:nvSpPr>
        <p:spPr>
          <a:xfrm>
            <a:off x="8890000" y="2336800"/>
            <a:ext cx="2413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03 数据与实时层</a:t>
            </a:r>
          </a:p>
        </p:txBody>
      </p:sp>
      <p:cxnSp>
        <p:nvCxnSpPr>
          <p:cNvPr id="77" name="Connector 17"/>
          <p:cNvCxnSpPr/>
          <p:nvPr/>
        </p:nvCxnSpPr>
        <p:spPr>
          <a:xfrm rot="-15211">
            <a:off x="8305814" y="2978150"/>
            <a:ext cx="2870200" cy="12700"/>
          </a:xfrm>
          <a:prstGeom prst="straightConnector1">
            <a:avLst/>
          </a:prstGeom>
          <a:ln w="12700" cap="flat">
            <a:solidFill>
              <a:srgbClr val="22C55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>
            <a:extLst>
              <a:ext uri="{FF2B5EF4-FFF2-40B4-BE49-F238E27FC236}">
                <a16:creationId xmlns:a16="http://schemas.microsoft.com/office/drawing/2014/main" id="{0F65C729-B151-4AEC-986E-FB2B52F6D147}"/>
              </a:ext>
            </a:extLst>
          </p:cNvPr>
          <p:cNvSpPr>
            <a:spLocks noGrp="1"/>
          </p:cNvSpPr>
          <p:nvPr/>
        </p:nvSpPr>
        <p:spPr>
          <a:xfrm>
            <a:off x="8305800" y="3175000"/>
            <a:ext cx="2870200" cy="1841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PostgreSQL 保存用户、饭卡、帖子、聊天、通知和桌宠状态；WebSocket Hub 维护在线连接，把聊天、通知和内容变更实时推送到前端。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4A53F9AE-00D7-44C8-BE80-34D1BCE5ACBA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mpd="sng">
            <a:solidFill>
              <a:srgbClr val="0CAC47">
                <a:alpha val="8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9D5C390F-8379-4898-8F6B-B40953653546}"/>
              </a:ext>
            </a:extLst>
          </p:cNvPr>
          <p:cNvSpPr>
            <a:spLocks noGrp="1"/>
          </p:cNvSpPr>
          <p:nvPr/>
        </p:nvSpPr>
        <p:spPr>
          <a:xfrm>
            <a:off x="1016000" y="5689600"/>
            <a:ext cx="1016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400" b="1" i="0" u="none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架构优势：前后端分离 + 接口层隔离 + 实时事件同步，让 Web、Android 与后端模块可以独立迭代，并支撑推荐算法、AI 破冰和管理后台持续扩展。</a:t>
            </a:r>
          </a:p>
        </p:txBody>
      </p:sp>
    </p:spTree>
    <p:extLst>
      <p:ext uri="{BB962C8B-B14F-4D97-AF65-F5344CB8AC3E}">
        <p14:creationId xmlns:p14="http://schemas.microsoft.com/office/powerpoint/2010/main" val="161275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EFAF3"/>
            </a:gs>
            <a:gs pos="50000">
              <a:srgbClr val="FFFFFF"/>
            </a:gs>
            <a:gs pos="100000">
              <a:srgbClr val="FFF0DD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5F9DA38-2CB6-4A6F-B2AB-A4E6E03EC9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EFAF3"/>
              </a:gs>
              <a:gs pos="50000">
                <a:srgbClr val="FFFFFF"/>
              </a:gs>
              <a:gs pos="100000">
                <a:srgbClr val="FFF0DD"/>
              </a:gs>
            </a:gsLst>
            <a:lin ang="8100000"/>
          </a:gradFill>
          <a:ln w="12668">
            <a:solidFill>
              <a:srgbClr val="E6CFCF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F6D05EE-725B-4101-8FCA-B7A9756072A7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基于接口的架构设计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C2C9055-D3CC-422C-B911-B7DBD100293D}"/>
              </a:ext>
            </a:extLst>
          </p:cNvPr>
          <p:cNvSpPr>
            <a:spLocks noGrp="1"/>
          </p:cNvSpPr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F5DFC8ED-06D1-4218-8E71-3C250B7EF8F5}"/>
              </a:ext>
            </a:extLst>
          </p:cNvPr>
          <p:cNvSpPr>
            <a:spLocks noGrp="1"/>
          </p:cNvSpPr>
          <p:nvPr/>
        </p:nvSpPr>
        <p:spPr>
          <a:xfrm>
            <a:off x="1600200" y="20574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前端 API Facade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4A86DBA-8C7A-4288-A687-5E9F23937799}"/>
              </a:ext>
            </a:extLst>
          </p:cNvPr>
          <p:cNvSpPr>
            <a:spLocks noGrp="1"/>
          </p:cNvSpPr>
          <p:nvPr/>
        </p:nvSpPr>
        <p:spPr>
          <a:xfrm>
            <a:off x="1016000" y="26035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统一 apiClient 处理 baseUrl、Token、JSON 和错误；业务接口集中在 services/*Api.ts，页面不直接拼请求。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121D235-03A3-4E0D-AB83-1DB5BFA14220}"/>
              </a:ext>
            </a:extLst>
          </p:cNvPr>
          <p:cNvSpPr>
            <a:spLocks noGrp="1"/>
          </p:cNvSpPr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32000"/>
            <a:ext cx="457200" cy="4572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334EDC4D-2AF5-4733-964A-753FF65DA3FC}"/>
              </a:ext>
            </a:extLst>
          </p:cNvPr>
          <p:cNvSpPr>
            <a:spLocks noGrp="1"/>
          </p:cNvSpPr>
          <p:nvPr/>
        </p:nvSpPr>
        <p:spPr>
          <a:xfrm>
            <a:off x="7061200" y="20574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Hooks 状态边界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8B5D4FF-5055-436E-9AC7-DDF5E6736EF3}"/>
              </a:ext>
            </a:extLst>
          </p:cNvPr>
          <p:cNvSpPr>
            <a:spLocks noGrp="1"/>
          </p:cNvSpPr>
          <p:nvPr/>
        </p:nvSpPr>
        <p:spPr>
          <a:xfrm>
            <a:off x="6477000" y="26035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页面负责展示与交互，约饭卡、社区、聊天、桌宠等业务状态收敛到 hooks；后续替换接口或 store 时不影响页面结构。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9CD8623-95BA-41F0-B17E-84BE721C18E6}"/>
              </a:ext>
            </a:extLst>
          </p:cNvPr>
          <p:cNvSpPr>
            <a:spLocks noGrp="1"/>
          </p:cNvSpPr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5" name="Pictur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457200" cy="4572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8F170812-543F-4EF6-8649-D83692AF1C34}"/>
              </a:ext>
            </a:extLst>
          </p:cNvPr>
          <p:cNvSpPr>
            <a:spLocks noGrp="1"/>
          </p:cNvSpPr>
          <p:nvPr/>
        </p:nvSpPr>
        <p:spPr>
          <a:xfrm>
            <a:off x="1600200" y="44069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后端 Router 模块化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40826CC-74A6-4CCD-9476-3C0994A380F6}"/>
              </a:ext>
            </a:extLst>
          </p:cNvPr>
          <p:cNvSpPr>
            <a:spLocks noGrp="1"/>
          </p:cNvSpPr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Express 按业务拆分 auth、users、meal-cards、posts、chat、reports 等 Router；统一响应格式，权限由后端再次校验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B27DD48-F301-43DC-AC57-D2E4A0BD7511}"/>
              </a:ext>
            </a:extLst>
          </p:cNvPr>
          <p:cNvSpPr>
            <a:spLocks noGrp="1"/>
          </p:cNvSpPr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9" name="Pictur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381500"/>
            <a:ext cx="457200" cy="4572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4CC84BD8-183E-4B95-9ECF-83192347B55D}"/>
              </a:ext>
            </a:extLst>
          </p:cNvPr>
          <p:cNvSpPr>
            <a:spLocks noGrp="1"/>
          </p:cNvSpPr>
          <p:nvPr/>
        </p:nvSpPr>
        <p:spPr>
          <a:xfrm>
            <a:off x="7061200" y="44069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数据访问接口隔离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1E83685C-1E0B-486E-8A61-F93A4F40C5FA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业务模块通过 postgresStore 读写数据库，SQL 与迁移逻辑集中在数据层；未来替换存储或增加缓存时，业务 API 契约保持稳定。</a:t>
            </a:r>
          </a:p>
        </p:txBody>
      </p:sp>
    </p:spTree>
    <p:extLst>
      <p:ext uri="{BB962C8B-B14F-4D97-AF65-F5344CB8AC3E}">
        <p14:creationId xmlns:p14="http://schemas.microsoft.com/office/powerpoint/2010/main" val="1656878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EFAF3"/>
            </a:gs>
            <a:gs pos="50000">
              <a:srgbClr val="FFFFFF"/>
            </a:gs>
            <a:gs pos="100000">
              <a:srgbClr val="FFF0DD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8757BD0-4942-474D-A293-815BF3738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EFAF3"/>
              </a:gs>
              <a:gs pos="50000">
                <a:srgbClr val="FFFFFF"/>
              </a:gs>
              <a:gs pos="100000">
                <a:srgbClr val="FFF0DD"/>
              </a:gs>
            </a:gsLst>
            <a:lin ang="8100000"/>
          </a:gradFill>
          <a:ln w="12668">
            <a:solidFill>
              <a:srgbClr val="E6CFCF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286C42B-431F-4FEF-BB81-27BED37E5B9D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设计模式与关键技术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9A052EE-022D-4B4E-AB35-D094521EA2E7}"/>
              </a:ext>
            </a:extLst>
          </p:cNvPr>
          <p:cNvSpPr>
            <a:spLocks noGrp="1"/>
          </p:cNvSpPr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7FECD549-8C42-4FBF-B320-8F6E196BA6C8}"/>
              </a:ext>
            </a:extLst>
          </p:cNvPr>
          <p:cNvSpPr>
            <a:spLocks noGrp="1"/>
          </p:cNvSpPr>
          <p:nvPr/>
        </p:nvSpPr>
        <p:spPr>
          <a:xfrm>
            <a:off x="1600200" y="20574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Facade / Adapter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03D1F56-8FCB-4C98-9574-65B5702F45C7}"/>
              </a:ext>
            </a:extLst>
          </p:cNvPr>
          <p:cNvSpPr>
            <a:spLocks noGrp="1"/>
          </p:cNvSpPr>
          <p:nvPr/>
        </p:nvSpPr>
        <p:spPr>
          <a:xfrm>
            <a:off x="1016000" y="26035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apiClient 与各业务 Api 文件封装请求细节；页面只调用业务动作，避免鉴权、URL、错误处理散落到组件里。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2B71EB7-1D53-490F-94CB-2E52BFF07DAA}"/>
              </a:ext>
            </a:extLst>
          </p:cNvPr>
          <p:cNvSpPr>
            <a:spLocks noGrp="1"/>
          </p:cNvSpPr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32000"/>
            <a:ext cx="457200" cy="4572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9FBDEB7D-463E-4840-84E1-BD1935F50FC6}"/>
              </a:ext>
            </a:extLst>
          </p:cNvPr>
          <p:cNvSpPr>
            <a:spLocks noGrp="1"/>
          </p:cNvSpPr>
          <p:nvPr/>
        </p:nvSpPr>
        <p:spPr>
          <a:xfrm>
            <a:off x="7061200" y="20574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Observer / Pub-Sub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50734501-28A1-42C8-BA27-8B975FE58162}"/>
              </a:ext>
            </a:extLst>
          </p:cNvPr>
          <p:cNvSpPr>
            <a:spLocks noGrp="1"/>
          </p:cNvSpPr>
          <p:nvPr/>
        </p:nvSpPr>
        <p:spPr>
          <a:xfrm>
            <a:off x="6477000" y="26035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WebSocket Hub 按用户维护连接。饭卡、帖子、聊天变化后发布事件，前端订阅后触发局部刷新。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989B0FA5-31A4-4369-BEB2-A5537DC9348B}"/>
              </a:ext>
            </a:extLst>
          </p:cNvPr>
          <p:cNvSpPr>
            <a:spLocks noGrp="1"/>
          </p:cNvSpPr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5" name="Pictur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457200" cy="4572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4F444729-9C31-4BAE-9883-AB287D8A9C83}"/>
              </a:ext>
            </a:extLst>
          </p:cNvPr>
          <p:cNvSpPr>
            <a:spLocks noGrp="1"/>
          </p:cNvSpPr>
          <p:nvPr/>
        </p:nvSpPr>
        <p:spPr>
          <a:xfrm>
            <a:off x="1600200" y="44069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Strategy / Scoring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9CE3508-FA53-48A8-94C7-CD69501CEF48}"/>
              </a:ext>
            </a:extLst>
          </p:cNvPr>
          <p:cNvSpPr>
            <a:spLocks noGrp="1"/>
          </p:cNvSpPr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推荐排序封装在 recommendation 模块中。过滤、打分、语义特征和反馈数据可独立调整，外部接口保持不变。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3083BB3-9980-4829-BADE-90ACCE9FDD80}"/>
              </a:ext>
            </a:extLst>
          </p:cNvPr>
          <p:cNvSpPr>
            <a:spLocks noGrp="1"/>
          </p:cNvSpPr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9" name="Pictur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381500"/>
            <a:ext cx="457200" cy="4572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C1A682C6-35B0-482C-AC45-ECD86C8864BE}"/>
              </a:ext>
            </a:extLst>
          </p:cNvPr>
          <p:cNvSpPr>
            <a:spLocks noGrp="1"/>
          </p:cNvSpPr>
          <p:nvPr/>
        </p:nvSpPr>
        <p:spPr>
          <a:xfrm>
            <a:off x="7061200" y="44069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Async Job / Cache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2E442E7E-F424-479B-B3F4-4A9A274052C9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画像、embedding、约饭卡特征和推荐缓存走后台刷新，避免重计算阻塞主链路，提升首页加载稳定性。</a:t>
            </a:r>
          </a:p>
        </p:txBody>
      </p:sp>
    </p:spTree>
    <p:extLst>
      <p:ext uri="{BB962C8B-B14F-4D97-AF65-F5344CB8AC3E}">
        <p14:creationId xmlns:p14="http://schemas.microsoft.com/office/powerpoint/2010/main" val="168046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EFAF3"/>
            </a:gs>
            <a:gs pos="50000">
              <a:srgbClr val="FFFFFF"/>
            </a:gs>
            <a:gs pos="100000">
              <a:srgbClr val="FFF0DD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4759751-2140-4ACF-9744-844391659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EFAF3"/>
              </a:gs>
              <a:gs pos="50000">
                <a:srgbClr val="FFFFFF"/>
              </a:gs>
              <a:gs pos="100000">
                <a:srgbClr val="FFF0DD"/>
              </a:gs>
            </a:gsLst>
            <a:lin ang="8100000"/>
          </a:gradFill>
          <a:ln w="12668">
            <a:solidFill>
              <a:srgbClr val="E6CFCF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3D37E7C-C14B-4E29-8ADA-7BAC57212ED2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匹配算法设计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32CB8BB-6746-4988-A08F-9221E6DAC89C}"/>
              </a:ext>
            </a:extLst>
          </p:cNvPr>
          <p:cNvSpPr>
            <a:spLocks noGrp="1"/>
          </p:cNvSpPr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265F381A-DE04-475B-9CCF-F8400FC59985}"/>
              </a:ext>
            </a:extLst>
          </p:cNvPr>
          <p:cNvSpPr>
            <a:spLocks noGrp="1"/>
          </p:cNvSpPr>
          <p:nvPr/>
        </p:nvSpPr>
        <p:spPr>
          <a:xfrm>
            <a:off x="1600200" y="20574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候选集过滤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B6C0E9A-DC08-422E-8B4A-DF390840A1E7}"/>
              </a:ext>
            </a:extLst>
          </p:cNvPr>
          <p:cNvSpPr>
            <a:spLocks noGrp="1"/>
          </p:cNvSpPr>
          <p:nvPr/>
        </p:nvSpPr>
        <p:spPr>
          <a:xfrm>
            <a:off x="1016000" y="26035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首页只保留仍有效的 active 饭卡，并过滤拉黑、举报、已交换请求等不可推荐对象，先保证推荐安全与有效。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74B53E8-CDCC-41BB-8E3D-83B932833649}"/>
              </a:ext>
            </a:extLst>
          </p:cNvPr>
          <p:cNvSpPr>
            <a:spLocks noGrp="1"/>
          </p:cNvSpPr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5" name="Pictur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32000"/>
            <a:ext cx="457200" cy="4572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CA833B64-932D-4A96-BA08-F8BA6468717B}"/>
              </a:ext>
            </a:extLst>
          </p:cNvPr>
          <p:cNvSpPr>
            <a:spLocks noGrp="1"/>
          </p:cNvSpPr>
          <p:nvPr/>
        </p:nvSpPr>
        <p:spPr>
          <a:xfrm>
            <a:off x="7061200" y="20574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特征提取与归一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5337D1BB-C0FC-4E13-8175-372435D9CC9D}"/>
              </a:ext>
            </a:extLst>
          </p:cNvPr>
          <p:cNvSpPr>
            <a:spLocks noGrp="1"/>
          </p:cNvSpPr>
          <p:nvPr/>
        </p:nvSpPr>
        <p:spPr>
          <a:xfrm>
            <a:off x="6477000" y="26035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从用户偏好、饭卡标签、时间地点、作者画像、语义标签和推荐缓存中提取特征，把不同来源的数据统一成可比较的匹配信号。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41DA13A-AC31-48AF-B5CF-BE2CB63EB8F6}"/>
              </a:ext>
            </a:extLst>
          </p:cNvPr>
          <p:cNvSpPr>
            <a:spLocks noGrp="1"/>
          </p:cNvSpPr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9" name="Picture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457200" cy="4572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6FD7F777-F74B-4FF6-B523-4E5AE6DC1055}"/>
              </a:ext>
            </a:extLst>
          </p:cNvPr>
          <p:cNvSpPr>
            <a:spLocks noGrp="1"/>
          </p:cNvSpPr>
          <p:nvPr/>
        </p:nvSpPr>
        <p:spPr>
          <a:xfrm>
            <a:off x="1600200" y="44069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加权排序与解释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0B164412-F66D-4C3E-8F97-BEDE3DAA53BF}"/>
              </a:ext>
            </a:extLst>
          </p:cNvPr>
          <p:cNvSpPr>
            <a:spLocks noGrp="1"/>
          </p:cNvSpPr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rankMealCardsForUser 综合标签相似度、时间地点契合、社交安全与缓存特征生成 matchScore，并返回 reason 解释推荐理由。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0457602-84E2-4A91-883A-F1115FC4097B}"/>
              </a:ext>
            </a:extLst>
          </p:cNvPr>
          <p:cNvSpPr>
            <a:spLocks noGrp="1"/>
          </p:cNvSpPr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43" name="Pictur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381500"/>
            <a:ext cx="457200" cy="4572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56F86C2C-5011-4BAC-8EC7-A2A723A559D5}"/>
              </a:ext>
            </a:extLst>
          </p:cNvPr>
          <p:cNvSpPr>
            <a:spLocks noGrp="1"/>
          </p:cNvSpPr>
          <p:nvPr/>
        </p:nvSpPr>
        <p:spPr>
          <a:xfrm>
            <a:off x="7061200" y="4406900"/>
            <a:ext cx="406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反馈闭环优化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0CDA2BAC-4696-4AA3-B9D1-AA2CAF5275FE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系统记录曝光、打开详情、跳过、推进到约饭等事件，形成 recommendation feedback，用于评估排序效果并支持后续调参。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36864" y="3524250"/>
            <a:ext cx="3412671" cy="31432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485164" y="3524250"/>
            <a:ext cx="3412671" cy="31432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36864" y="5905500"/>
            <a:ext cx="3412671" cy="31432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485164" y="5905500"/>
            <a:ext cx="3412671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6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9971EFB-9688-42D7-9EB9-DF1D3B6CC4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E34FB90-144A-4A46-B543-772A2B9A7EAC}"/>
              </a:ext>
            </a:extLst>
          </p:cNvPr>
          <p:cNvSpPr>
            <a:spLocks noGrp="1"/>
          </p:cNvSpPr>
          <p:nvPr/>
        </p:nvSpPr>
        <p:spPr>
          <a:xfrm>
            <a:off x="0" y="1651000"/>
            <a:ext cx="12192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72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PART 04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DDAB6F6-2F34-448D-8117-0F2E9AA92BF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40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测试与质量保证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C720FB8-27D0-4AA0-8FF7-3FF74C7715F2}"/>
              </a:ext>
            </a:extLst>
          </p:cNvPr>
          <p:cNvSpPr>
            <a:spLocks noGrp="1"/>
          </p:cNvSpPr>
          <p:nvPr/>
        </p:nvSpPr>
        <p:spPr>
          <a:xfrm>
            <a:off x="1016000" y="4826000"/>
            <a:ext cx="10160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8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构建从单元测试到全链路压测的立体化质量防线，</a:t>
            </a:r>
            <a:br/>
            <a:r>
              <a:rPr sz="18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以严苛标准保障系统的高可用性与稳定性，为用户体验保驾护航。</a:t>
            </a:r>
          </a:p>
        </p:txBody>
      </p:sp>
    </p:spTree>
    <p:extLst>
      <p:ext uri="{BB962C8B-B14F-4D97-AF65-F5344CB8AC3E}">
        <p14:creationId xmlns:p14="http://schemas.microsoft.com/office/powerpoint/2010/main" val="1045861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66AC391-5A58-4721-8E01-E92C257B78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9FFEAA0-DFDF-4894-A0C9-DFA12395910C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全维度测试体系与核心测试项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7C24AA2-056C-44B5-BE08-BC7BE891764E}"/>
              </a:ext>
            </a:extLst>
          </p:cNvPr>
          <p:cNvSpPr>
            <a:spLocks noGrp="1"/>
          </p:cNvSpPr>
          <p:nvPr/>
        </p:nvSpPr>
        <p:spPr>
          <a:xfrm>
            <a:off x="762000" y="1587500"/>
            <a:ext cx="10668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围绕功能、体验、兼容、安全四大维度搭建标准化测试流程，贯穿产品需求、开发到上线的全生命周期，确保交付质量与用户体验的双重保障。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00043E3-B65E-424E-B709-09C0FA5D514A}"/>
              </a:ext>
            </a:extLst>
          </p:cNvPr>
          <p:cNvSpPr>
            <a:spLocks noGrp="1"/>
          </p:cNvSpPr>
          <p:nvPr/>
        </p:nvSpPr>
        <p:spPr>
          <a:xfrm>
            <a:off x="762000" y="2540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>
            <a:solidFill>
              <a:srgbClr val="22C55E">
                <a:alpha val="2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Pictur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68600"/>
            <a:ext cx="355600" cy="3556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59618B7B-51BB-45F7-8FC9-ABB49EDA6631}"/>
              </a:ext>
            </a:extLst>
          </p:cNvPr>
          <p:cNvSpPr>
            <a:spLocks noGrp="1"/>
          </p:cNvSpPr>
          <p:nvPr/>
        </p:nvSpPr>
        <p:spPr>
          <a:xfrm>
            <a:off x="1498600" y="2768600"/>
            <a:ext cx="4318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01 功能完备性验证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D2D58E0-2A2D-4F20-B235-E9E2421C5EC9}"/>
              </a:ext>
            </a:extLst>
          </p:cNvPr>
          <p:cNvSpPr>
            <a:spLocks noGrp="1"/>
          </p:cNvSpPr>
          <p:nvPr/>
        </p:nvSpPr>
        <p:spPr>
          <a:xfrm>
            <a:off x="1016000" y="3276600"/>
            <a:ext cx="4699000" cy="952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覆盖登录、等核心业务流程，核心功能模块通过率达100%，</a:t>
            </a:r>
            <a:r>
              <a:rPr sz="1300" b="0" i="0" u="non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无严重级Bug遗留，确保业务链路稳定可靠</a:t>
            </a:r>
            <a:r>
              <a:rPr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F7FD49F-1B63-4A3E-A7A7-BDB3E69EE65E}"/>
              </a:ext>
            </a:extLst>
          </p:cNvPr>
          <p:cNvSpPr>
            <a:spLocks noGrp="1"/>
          </p:cNvSpPr>
          <p:nvPr/>
        </p:nvSpPr>
        <p:spPr>
          <a:xfrm>
            <a:off x="6223000" y="2540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>
            <a:solidFill>
              <a:srgbClr val="22C55E">
                <a:alpha val="2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3" name="Pictur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68600"/>
            <a:ext cx="355600" cy="3556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B46465B8-DC51-4FB7-A80C-4CDCAF88E611}"/>
              </a:ext>
            </a:extLst>
          </p:cNvPr>
          <p:cNvSpPr>
            <a:spLocks noGrp="1"/>
          </p:cNvSpPr>
          <p:nvPr/>
        </p:nvSpPr>
        <p:spPr>
          <a:xfrm>
            <a:off x="6959600" y="2768600"/>
            <a:ext cx="4318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02 极致体验验证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D9519E6-DD37-4BDA-813A-03FBAC142563}"/>
              </a:ext>
            </a:extLst>
          </p:cNvPr>
          <p:cNvSpPr>
            <a:spLocks noGrp="1"/>
          </p:cNvSpPr>
          <p:nvPr/>
        </p:nvSpPr>
        <p:spPr>
          <a:xfrm>
            <a:off x="6477000" y="3276600"/>
            <a:ext cx="4699000" cy="952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多</a:t>
            </a:r>
            <a:r>
              <a:rPr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名真实用户参与全流程体验测试，核心任务完成率100%，</a:t>
            </a:r>
            <a:r>
              <a:rPr sz="1300" b="0" i="0" u="non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单任务平均操作时长</a:t>
            </a:r>
            <a:r>
              <a:rPr lang="zh-CN" altLang="en-US"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短</a:t>
            </a:r>
            <a:r>
              <a:rPr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，交互逻辑清晰易懂</a:t>
            </a:r>
            <a:r>
              <a:rPr lang="zh-CN" altLang="en-US"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。</a:t>
            </a:r>
            <a:endParaRPr sz="1300" b="0" i="0" u="none" dirty="0">
              <a:solidFill>
                <a:srgbClr val="4B556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5728D87-F192-4388-B784-2B07D78B3BA3}"/>
              </a:ext>
            </a:extLst>
          </p:cNvPr>
          <p:cNvSpPr>
            <a:spLocks noGrp="1"/>
          </p:cNvSpPr>
          <p:nvPr/>
        </p:nvSpPr>
        <p:spPr>
          <a:xfrm>
            <a:off x="762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>
            <a:solidFill>
              <a:srgbClr val="22C55E">
                <a:alpha val="2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37" name="Pictur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737100"/>
            <a:ext cx="355600" cy="355600"/>
          </a:xfrm>
          <a:prstGeom prst="rect">
            <a:avLst/>
          </a:prstGeom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9D6CB658-C97B-4959-BB45-44CB39D2CB28}"/>
              </a:ext>
            </a:extLst>
          </p:cNvPr>
          <p:cNvSpPr>
            <a:spLocks noGrp="1"/>
          </p:cNvSpPr>
          <p:nvPr/>
        </p:nvSpPr>
        <p:spPr>
          <a:xfrm>
            <a:off x="1498600" y="4737100"/>
            <a:ext cx="4318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03 多端兼容适配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85DD2BD-490E-44F4-9AB0-B17DCDD6AF09}"/>
              </a:ext>
            </a:extLst>
          </p:cNvPr>
          <p:cNvSpPr>
            <a:spLocks noGrp="1"/>
          </p:cNvSpPr>
          <p:nvPr/>
        </p:nvSpPr>
        <p:spPr>
          <a:xfrm>
            <a:off x="1016000" y="5245100"/>
            <a:ext cx="4699000" cy="952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覆盖</a:t>
            </a:r>
            <a:r>
              <a:rPr lang="zh-CN" altLang="en-US"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主流浏览器及</a:t>
            </a:r>
            <a:r>
              <a:rPr sz="1300" b="0" i="0" u="non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Android机型，在不同分辨率、屏幕尺寸与系统版本下均保持界面与交互的高度一致性</a:t>
            </a:r>
            <a:r>
              <a:rPr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49772305-4AD0-4334-97A4-607ECD4FABC5}"/>
              </a:ext>
            </a:extLst>
          </p:cNvPr>
          <p:cNvSpPr>
            <a:spLocks noGrp="1"/>
          </p:cNvSpPr>
          <p:nvPr/>
        </p:nvSpPr>
        <p:spPr>
          <a:xfrm>
            <a:off x="6223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>
            <a:solidFill>
              <a:srgbClr val="22C55E">
                <a:alpha val="25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41" name="Picture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737100"/>
            <a:ext cx="355600" cy="355600"/>
          </a:xfrm>
          <a:prstGeom prst="rect">
            <a:avLst/>
          </a:prstGeom>
        </p:spPr>
      </p:pic>
      <p:sp>
        <p:nvSpPr>
          <p:cNvPr id="19" name="AutoShape 19">
            <a:extLst>
              <a:ext uri="{FF2B5EF4-FFF2-40B4-BE49-F238E27FC236}">
                <a16:creationId xmlns:a16="http://schemas.microsoft.com/office/drawing/2014/main" id="{492D5188-9705-4E52-8998-91FD310030B7}"/>
              </a:ext>
            </a:extLst>
          </p:cNvPr>
          <p:cNvSpPr>
            <a:spLocks noGrp="1"/>
          </p:cNvSpPr>
          <p:nvPr/>
        </p:nvSpPr>
        <p:spPr>
          <a:xfrm>
            <a:off x="6959600" y="4737100"/>
            <a:ext cx="4318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04 </a:t>
            </a:r>
            <a:r>
              <a:rPr sz="1800" b="1" i="0" u="non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安全隐私护航</a:t>
            </a:r>
            <a:endParaRPr sz="1800" b="1" i="0" u="none" dirty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A31301BD-CD2D-4147-9FCA-5AC8238F62FD}"/>
              </a:ext>
            </a:extLst>
          </p:cNvPr>
          <p:cNvSpPr>
            <a:spLocks noGrp="1"/>
          </p:cNvSpPr>
          <p:nvPr/>
        </p:nvSpPr>
        <p:spPr>
          <a:xfrm>
            <a:off x="6477000" y="5245100"/>
            <a:ext cx="4699000" cy="952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0" i="0" u="non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通过专业渗透测试与合规审查，身份认证机制防撞库攻击有效，用户敏感数据采用国密标准算法加密存储与传输，完全符合个人信息保护法要求。</a:t>
            </a:r>
          </a:p>
        </p:txBody>
      </p:sp>
    </p:spTree>
    <p:extLst>
      <p:ext uri="{BB962C8B-B14F-4D97-AF65-F5344CB8AC3E}">
        <p14:creationId xmlns:p14="http://schemas.microsoft.com/office/powerpoint/2010/main" val="247252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7B09E848-7F1B-46CB-91F1-0C2F40B03CE5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质量管控机制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3D49B2B-5DFF-49A0-B7ED-B0E3E33F0C18}"/>
              </a:ext>
            </a:extLst>
          </p:cNvPr>
          <p:cNvSpPr>
            <a:spLocks noGrp="1"/>
          </p:cNvSpPr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6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508000" cy="5080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CF1F7DF8-1D7D-4BF4-A3B9-23A73430152E}"/>
              </a:ext>
            </a:extLst>
          </p:cNvPr>
          <p:cNvSpPr>
            <a:spLocks noGrp="1"/>
          </p:cNvSpPr>
          <p:nvPr/>
        </p:nvSpPr>
        <p:spPr>
          <a:xfrm>
            <a:off x="1625600" y="2413000"/>
            <a:ext cx="2540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01 三级评审机制</a:t>
            </a:r>
          </a:p>
        </p:txBody>
      </p:sp>
      <p:cxnSp>
        <p:nvCxnSpPr>
          <p:cNvPr id="67" name="Connector 7"/>
          <p:cNvCxnSpPr/>
          <p:nvPr/>
        </p:nvCxnSpPr>
        <p:spPr>
          <a:xfrm rot="-15211">
            <a:off x="1016014" y="3105150"/>
            <a:ext cx="2870200" cy="12700"/>
          </a:xfrm>
          <a:prstGeom prst="straightConnector1">
            <a:avLst/>
          </a:prstGeom>
          <a:ln w="12700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>
              <a:ext uri="{FF2B5EF4-FFF2-40B4-BE49-F238E27FC236}">
                <a16:creationId xmlns:a16="http://schemas.microsoft.com/office/drawing/2014/main" id="{E0B789A1-0F39-481A-BF09-7E389DB847D3}"/>
              </a:ext>
            </a:extLst>
          </p:cNvPr>
          <p:cNvSpPr>
            <a:spLocks noGrp="1"/>
          </p:cNvSpPr>
          <p:nvPr/>
        </p:nvSpPr>
        <p:spPr>
          <a:xfrm>
            <a:off x="1016000" y="3302000"/>
            <a:ext cx="2870200" cy="203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构建需求、原型、交付的全流程评审体系，在设计与开发的关键节点层层把关。通过前置化的风险识别，从源头规避设计缺陷与逻辑漏洞，筑牢产品质量的第一道防线。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73D69A4-83B0-4A8F-853A-F76EF35299B2}"/>
              </a:ext>
            </a:extLst>
          </p:cNvPr>
          <p:cNvSpPr>
            <a:spLocks noGrp="1"/>
          </p:cNvSpPr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>
            <a:solidFill>
              <a:srgbClr val="22C55E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pic>
        <p:nvPicPr>
          <p:cNvPr id="75" name="Picture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2349500"/>
            <a:ext cx="508000" cy="508000"/>
          </a:xfrm>
          <a:prstGeom prst="rect">
            <a:avLst/>
          </a:prstGeom>
        </p:spPr>
      </p:pic>
      <p:sp>
        <p:nvSpPr>
          <p:cNvPr id="16" name="AutoShape 16">
            <a:extLst>
              <a:ext uri="{FF2B5EF4-FFF2-40B4-BE49-F238E27FC236}">
                <a16:creationId xmlns:a16="http://schemas.microsoft.com/office/drawing/2014/main" id="{E9311A3D-B602-4FAD-B137-6474B45ECCFB}"/>
              </a:ext>
            </a:extLst>
          </p:cNvPr>
          <p:cNvSpPr>
            <a:spLocks noGrp="1"/>
          </p:cNvSpPr>
          <p:nvPr/>
        </p:nvSpPr>
        <p:spPr>
          <a:xfrm>
            <a:off x="8915400" y="2413000"/>
            <a:ext cx="2540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lang="en-US" sz="2000" b="1" i="0" u="non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2</a:t>
            </a:r>
            <a:r>
              <a:rPr sz="2000" b="1" i="0" u="non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2000" b="1" i="0" u="non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用户反馈通道</a:t>
            </a:r>
            <a:endParaRPr sz="2000" b="1" i="0" u="none" dirty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77" name="Connector 17"/>
          <p:cNvCxnSpPr/>
          <p:nvPr/>
        </p:nvCxnSpPr>
        <p:spPr>
          <a:xfrm rot="-15211">
            <a:off x="8305814" y="3105150"/>
            <a:ext cx="2870200" cy="12700"/>
          </a:xfrm>
          <a:prstGeom prst="straightConnector1">
            <a:avLst/>
          </a:prstGeom>
          <a:ln w="12700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>
            <a:extLst>
              <a:ext uri="{FF2B5EF4-FFF2-40B4-BE49-F238E27FC236}">
                <a16:creationId xmlns:a16="http://schemas.microsoft.com/office/drawing/2014/main" id="{64815C94-FABE-4F47-B472-F193289EA07C}"/>
              </a:ext>
            </a:extLst>
          </p:cNvPr>
          <p:cNvSpPr>
            <a:spLocks noGrp="1"/>
          </p:cNvSpPr>
          <p:nvPr/>
        </p:nvSpPr>
        <p:spPr>
          <a:xfrm>
            <a:off x="8305800" y="3302000"/>
            <a:ext cx="2870200" cy="203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搭建常态化的用户声音收集渠道，将真实反馈纳入产品迭代的核心优化队列。以用户体验为导向，快速响应需求痛点，通过持续的版本迭代打磨细节，不断提升产品口碑与用户满意度。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38BEC0B8-A96A-4766-B543-8C59723D87D5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5810E700-E441-432A-987E-DE5B989FD60F}"/>
              </a:ext>
            </a:extLst>
          </p:cNvPr>
          <p:cNvSpPr>
            <a:spLocks noGrp="1"/>
          </p:cNvSpPr>
          <p:nvPr/>
        </p:nvSpPr>
        <p:spPr>
          <a:xfrm>
            <a:off x="889000" y="6007100"/>
            <a:ext cx="10414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5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全流程质量护航，打造用户信赖的可靠产品体验</a:t>
            </a:r>
          </a:p>
        </p:txBody>
      </p:sp>
    </p:spTree>
    <p:extLst>
      <p:ext uri="{BB962C8B-B14F-4D97-AF65-F5344CB8AC3E}">
        <p14:creationId xmlns:p14="http://schemas.microsoft.com/office/powerpoint/2010/main" val="1894341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30FB3-1572-C80B-6D23-7C4FE646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08598135-5261-7891-4926-C258FC835552}"/>
              </a:ext>
            </a:extLst>
          </p:cNvPr>
          <p:cNvSpPr>
            <a:spLocks noGrp="1"/>
          </p:cNvSpPr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zh-CN" altLang="en-US" sz="3200" b="1" i="0" u="non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测试</a:t>
            </a:r>
            <a:endParaRPr sz="3200" b="1" i="0" u="none" dirty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C5989C-0FDE-7B11-6711-CBAC4F622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52" y="2198868"/>
            <a:ext cx="3934019" cy="24602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A0BC86-A76E-735B-0395-638F97585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4970" y="2198868"/>
            <a:ext cx="3882312" cy="24602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432547-09D2-D146-80F1-67ACF20E1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9702" y="2198868"/>
            <a:ext cx="4312298" cy="238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6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87CBC66-BD46-407B-A801-F90748D5CC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16349D-C352-49F2-B6C6-4C921096FB2D}"/>
              </a:ext>
            </a:extLst>
          </p:cNvPr>
          <p:cNvSpPr>
            <a:spLocks noGrp="1"/>
          </p:cNvSpPr>
          <p:nvPr/>
        </p:nvSpPr>
        <p:spPr>
          <a:xfrm>
            <a:off x="0" y="2159000"/>
            <a:ext cx="12192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PART 05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F733C65-B915-4B73-A5D9-462AD17454D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40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项目总结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2426341-C8BB-4423-84F6-CDCBBE066E5C}"/>
              </a:ext>
            </a:extLst>
          </p:cNvPr>
          <p:cNvSpPr>
            <a:spLocks noGrp="1"/>
          </p:cNvSpPr>
          <p:nvPr/>
        </p:nvSpPr>
        <p:spPr>
          <a:xfrm>
            <a:off x="5080000" y="4445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9D9153F-5B9C-4901-ACB0-2116C52AB43C}"/>
              </a:ext>
            </a:extLst>
          </p:cNvPr>
          <p:cNvSpPr>
            <a:spLocks noGrp="1"/>
          </p:cNvSpPr>
          <p:nvPr/>
        </p:nvSpPr>
        <p:spPr>
          <a:xfrm>
            <a:off x="1016000" y="5397500"/>
            <a:ext cx="10160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17000"/>
              </a:lnSpc>
              <a:buNone/>
            </a:pPr>
            <a:r>
              <a:rPr sz="1600" b="0" i="0" u="non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</a:rPr>
              <a:t>回顾成果沉淀价值，复盘过程汲取经验，展望未来擘画新篇</a:t>
            </a:r>
          </a:p>
        </p:txBody>
      </p:sp>
    </p:spTree>
    <p:extLst>
      <p:ext uri="{BB962C8B-B14F-4D97-AF65-F5344CB8AC3E}">
        <p14:creationId xmlns:p14="http://schemas.microsoft.com/office/powerpoint/2010/main" val="763312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DFAD510-3116-4C3C-8E32-0BD1241303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>
            <a:solidFill>
              <a:srgbClr val="000000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06CE666-9630-41E9-858F-D106A05E8176}"/>
              </a:ext>
            </a:extLst>
          </p:cNvPr>
          <p:cNvSpPr>
            <a:spLocks noGrp="1"/>
          </p:cNvSpPr>
          <p:nvPr/>
        </p:nvSpPr>
        <p:spPr>
          <a:xfrm>
            <a:off x="0" y="5080000"/>
            <a:ext cx="1778000" cy="1778000"/>
          </a:xfrm>
          <a:prstGeom prst="ellipse">
            <a:avLst/>
          </a:prstGeom>
          <a:solidFill>
            <a:srgbClr val="22C55E">
              <a:alpha val="12000"/>
            </a:srgbClr>
          </a:solidFill>
          <a:ln cmpd="sng">
            <a:solidFill>
              <a:srgbClr val="0CAC47">
                <a:alpha val="12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47F0658-6F8A-4065-A4D9-9C7FF169C1C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2286000" cy="2286000"/>
          </a:xfrm>
          <a:prstGeom prst="ellipse">
            <a:avLst/>
          </a:prstGeom>
          <a:solidFill>
            <a:srgbClr val="22C55E">
              <a:alpha val="8000"/>
            </a:srgbClr>
          </a:solidFill>
          <a:ln cmpd="sng">
            <a:solidFill>
              <a:srgbClr val="0CAC47">
                <a:alpha val="8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1E56A19-6466-4FF2-8160-E43C3AD54BDB}"/>
              </a:ext>
            </a:extLst>
          </p:cNvPr>
          <p:cNvSpPr>
            <a:spLocks noGrp="1"/>
          </p:cNvSpPr>
          <p:nvPr/>
        </p:nvSpPr>
        <p:spPr>
          <a:xfrm>
            <a:off x="0" y="2159000"/>
            <a:ext cx="1219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2400" b="1" i="0" u="none">
                <a:solidFill>
                  <a:srgbClr val="22C55E"/>
                </a:solidFill>
                <a:latin typeface="Noto Sans SC"/>
                <a:ea typeface="Noto Sans SC"/>
                <a:cs typeface="Noto Sans SC"/>
              </a:rPr>
              <a:t>PART 06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C6A7428-7200-4B33-AAD8-5CDBECF7525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4000"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Q&amp;A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2AA9DB8-493D-4353-B0BF-FE094DBCCA58}"/>
              </a:ext>
            </a:extLst>
          </p:cNvPr>
          <p:cNvSpPr>
            <a:spLocks noGrp="1"/>
          </p:cNvSpPr>
          <p:nvPr/>
        </p:nvSpPr>
        <p:spPr>
          <a:xfrm>
            <a:off x="1270000" y="4699000"/>
            <a:ext cx="965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8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感谢各位的聆听与关注，欢迎大家提出宝贵的意见与建议</a:t>
            </a:r>
            <a:br/>
            <a:r>
              <a:rPr sz="1800" b="0" i="0" u="non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让我们共同探讨与交流</a:t>
            </a:r>
          </a:p>
        </p:txBody>
      </p:sp>
    </p:spTree>
    <p:extLst>
      <p:ext uri="{BB962C8B-B14F-4D97-AF65-F5344CB8AC3E}">
        <p14:creationId xmlns:p14="http://schemas.microsoft.com/office/powerpoint/2010/main" val="411932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9623748-81E7-49E1-8688-7B9AFBE836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D324CF2-3195-4CD6-9A0C-8CDC8EBDEC9A}"/>
              </a:ext>
            </a:extLst>
          </p:cNvPr>
          <p:cNvSpPr>
            <a:spLocks noGrp="1"/>
          </p:cNvSpPr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4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THANKS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1371F56-7745-4656-94F5-CEA6301E89F3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2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以科技为翼，共赴校园社交之约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696558F-D430-4699-AF5D-5A860B73CB11}"/>
              </a:ext>
            </a:extLst>
          </p:cNvPr>
          <p:cNvSpPr>
            <a:spLocks noGrp="1"/>
          </p:cNvSpPr>
          <p:nvPr/>
        </p:nvSpPr>
        <p:spPr>
          <a:xfrm>
            <a:off x="4064000" y="5524500"/>
            <a:ext cx="4064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cmpd="sng">
            <a:solidFill>
              <a:srgbClr val="0CAC47">
                <a:alpha val="12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CA407FD-937F-4D6F-8C6D-692C829B87FD}"/>
              </a:ext>
            </a:extLst>
          </p:cNvPr>
          <p:cNvSpPr>
            <a:spLocks noGrp="1"/>
          </p:cNvSpPr>
          <p:nvPr/>
        </p:nvSpPr>
        <p:spPr>
          <a:xfrm>
            <a:off x="4064000" y="5524500"/>
            <a:ext cx="4064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600" b="1" i="0" u="none">
                <a:solidFill>
                  <a:srgbClr val="15803D"/>
                </a:solidFill>
                <a:latin typeface="Noto Sans SC"/>
                <a:ea typeface="Noto Sans SC"/>
                <a:cs typeface="Noto Sans SC"/>
              </a:rPr>
              <a:t>期待与你相遇 · 共创美好校园</a:t>
            </a:r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83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Office PowerPoint</Application>
  <DocSecurity>0</DocSecurity>
  <PresentationFormat>宽屏</PresentationFormat>
  <Paragraphs>230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2749393080@qq.com</cp:lastModifiedBy>
  <cp:revision>2</cp:revision>
  <dcterms:created xsi:type="dcterms:W3CDTF">2026-07-30T16:26:22Z</dcterms:created>
  <dcterms:modified xsi:type="dcterms:W3CDTF">2026-07-30T23:34:52Z</dcterms:modified>
</cp:coreProperties>
</file>